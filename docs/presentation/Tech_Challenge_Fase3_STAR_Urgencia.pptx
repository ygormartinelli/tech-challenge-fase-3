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e401557fa9403f" /><Relationship Type="http://schemas.openxmlformats.org/officeDocument/2006/relationships/extended-properties" Target="/docProps/app.xml" Id="Rbc30614e23cf4b7b" /><Relationship Type="http://schemas.openxmlformats.org/officeDocument/2006/relationships/officeDocument" Target="/ppt/presentation.xml" Id="R3d38277633264df9" /></Relationships>
</file>

<file path=ppt/presentation.xml><?xml version="1.0" encoding="utf-8"?>
<p:presentation xmlns:p="http://schemas.openxmlformats.org/presentationml/2006/main">
  <p:sldMasterIdLst>
    <p:sldMasterId xmlns:r="http://schemas.openxmlformats.org/officeDocument/2006/relationships" id="2147483648" r:id="R634873678f154e4b"/>
  </p:sldMasterIdLst>
  <p:notesMasterIdLst>
    <p:notesMasterId xmlns:r="http://schemas.openxmlformats.org/officeDocument/2006/relationships" r:id="R5ebd8d9a39aa47ae"/>
  </p:notesMasterIdLst>
  <p:sldIdLst>
    <p:sldId xmlns:r="http://schemas.openxmlformats.org/officeDocument/2006/relationships" id="256" r:id="R85286704bb0c4774"/>
    <p:sldId xmlns:r="http://schemas.openxmlformats.org/officeDocument/2006/relationships" id="257" r:id="R79e0773e2b114b15"/>
    <p:sldId xmlns:r="http://schemas.openxmlformats.org/officeDocument/2006/relationships" id="258" r:id="R6d6b2df7d7b24b15"/>
    <p:sldId xmlns:r="http://schemas.openxmlformats.org/officeDocument/2006/relationships" id="259" r:id="R0171a7c100f14442"/>
    <p:sldId xmlns:r="http://schemas.openxmlformats.org/officeDocument/2006/relationships" id="260" r:id="Re38ace6f84d94567"/>
    <p:sldId xmlns:r="http://schemas.openxmlformats.org/officeDocument/2006/relationships" id="261" r:id="R71ad1046ab8e4bef"/>
    <p:sldId xmlns:r="http://schemas.openxmlformats.org/officeDocument/2006/relationships" id="262" r:id="Rfcca0f21b5e3436e"/>
    <p:sldId xmlns:r="http://schemas.openxmlformats.org/officeDocument/2006/relationships" id="263" r:id="R82791ecc1c1c47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c015e08c44c54a10" /><Relationship Type="http://schemas.openxmlformats.org/officeDocument/2006/relationships/slideMaster" Target="/ppt/slideMasters/slideMaster1.xml" Id="R634873678f154e4b" /><Relationship Type="http://schemas.openxmlformats.org/officeDocument/2006/relationships/notesMaster" Target="/ppt/notesMasters/notesMaster1.xml" Id="R5ebd8d9a39aa47ae" /><Relationship Type="http://schemas.openxmlformats.org/officeDocument/2006/relationships/presProps" Target="/ppt/presProps.xml" Id="R16f2076e3ef44ab9" /><Relationship Type="http://schemas.openxmlformats.org/officeDocument/2006/relationships/viewProps" Target="/ppt/viewProps.xml" Id="Ref05105a45e94a4d" /><Relationship Type="http://schemas.openxmlformats.org/officeDocument/2006/relationships/tableStyles" Target="/ppt/tableStyles.xml" Id="Rbf9b49d82b384d98" /><Relationship Type="http://schemas.openxmlformats.org/officeDocument/2006/relationships/slide" Target="/ppt/slides/slide1.xml" Id="R85286704bb0c4774" /><Relationship Type="http://schemas.openxmlformats.org/officeDocument/2006/relationships/slide" Target="/ppt/slides/slide2.xml" Id="R79e0773e2b114b15" /><Relationship Type="http://schemas.openxmlformats.org/officeDocument/2006/relationships/slide" Target="/ppt/slides/slide3.xml" Id="R6d6b2df7d7b24b15" /><Relationship Type="http://schemas.openxmlformats.org/officeDocument/2006/relationships/slide" Target="/ppt/slides/slide4.xml" Id="R0171a7c100f14442" /><Relationship Type="http://schemas.openxmlformats.org/officeDocument/2006/relationships/slide" Target="/ppt/slides/slide5.xml" Id="Re38ace6f84d94567" /><Relationship Type="http://schemas.openxmlformats.org/officeDocument/2006/relationships/slide" Target="/ppt/slides/slide6.xml" Id="R71ad1046ab8e4bef" /><Relationship Type="http://schemas.openxmlformats.org/officeDocument/2006/relationships/slide" Target="/ppt/slides/slide7.xml" Id="Rfcca0f21b5e3436e" /><Relationship Type="http://schemas.openxmlformats.org/officeDocument/2006/relationships/slide" Target="/ppt/slides/slide8.xml" Id="R82791ecc1c1c47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dd9d39912224c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a2c4d0275e4367" /><Relationship Type="http://schemas.openxmlformats.org/officeDocument/2006/relationships/notesMaster" Target="/ppt/notesMasters/notesMaster1.xml" Id="R26c460713fb041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61b967cb72473e" /><Relationship Type="http://schemas.openxmlformats.org/officeDocument/2006/relationships/notesMaster" Target="/ppt/notesMasters/notesMaster1.xml" Id="R098e5e0f0c5540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b7267550d040d5" /><Relationship Type="http://schemas.openxmlformats.org/officeDocument/2006/relationships/notesMaster" Target="/ppt/notesMasters/notesMaster1.xml" Id="R2f8278fb7ba342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7d06d7b42b4936" /><Relationship Type="http://schemas.openxmlformats.org/officeDocument/2006/relationships/notesMaster" Target="/ppt/notesMasters/notesMaster1.xml" Id="Rc463229e74a144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159df945f44c96" /><Relationship Type="http://schemas.openxmlformats.org/officeDocument/2006/relationships/notesMaster" Target="/ppt/notesMasters/notesMaster1.xml" Id="R55346af5369841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ae4c6eafe849a7" /><Relationship Type="http://schemas.openxmlformats.org/officeDocument/2006/relationships/notesMaster" Target="/ppt/notesMasters/notesMaster1.xml" Id="Rae12c298f7c549a8"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43949ef33b4497" /><Relationship Type="http://schemas.openxmlformats.org/officeDocument/2006/relationships/notesMaster" Target="/ppt/notesMasters/notesMaster1.xml" Id="R9571491f6fd5447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c447b38e7b4e30" /><Relationship Type="http://schemas.openxmlformats.org/officeDocument/2006/relationships/notesMaster" Target="/ppt/notesMasters/notesMaster1.xml" Id="R5f8b545591224a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SITUAÇÃO, 0:00 a 0:35</a:t>
            </a:r>
          </a:p>
          <a:p xmlns:a="http://schemas.openxmlformats.org/drawingml/2006/main">
            <a:r>
              <a:t>O enunciado pede classificar a urgência de laudos. A primeira versão classificava doenças, porque o corpus sugerido não contém urgência. Corrigimos o alvo com uma adaptação autorizada: cenários sintéticos separados dos CSVs originais. Agora a API responde normal, atenção ou urgente. Toda a entrega identifica essa origem. É uma demonstração do ciclo de vida de ML, sem autorização para triagem clínica, diagnóstico ou tratamento.</a:t>
            </a:r>
            <a:endParaRPr/>
          </a:p>
          <a:p xmlns:a="http://schemas.openxmlformats.org/drawingml/2006/main">
            <a:r>
              <a:t>Fontes:</a:t>
            </a:r>
          </a:p>
          <a:p xmlns:a="http://schemas.openxmlformats.org/drawingml/2006/main">
            <a:r>
              <a:t>https://github.com/ygormartinelli/tech-challenge-fase-3/blob/dd3947853e179c72581121c7a8b001caa61b22c5/README.md</a:t>
            </a:r>
          </a:p>
          <a:p xmlns:a="http://schemas.openxmlformats.org/drawingml/2006/main">
            <a:r>
              <a:t>https://github.com/ygormartinelli/tech-challenge-fase-3/blob/dd3947853e179c72581121c7a8b001caa61b22c5/docs/requirements/MLET%20-%20Tech%20Challenge%20Fase%203.md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TAREFA, 0:35 a 1:05</a:t>
            </a:r>
          </a:p>
          <a:p xmlns:a="http://schemas.openxmlformats.org/drawingml/2006/main">
            <a:r>
              <a:t>Minha tarefa foi entregar uma API leve, reproduzível em Docker, com CI, retreino e observabilidade. Mantive TF-IDF e regressão logística para facilitar o entendimento. A API tem health e métricas. O Compose inclui Prometheus e Grafana, com Airflow opcional em container. A proposta de produção documenta inferência em tempo real no ECS Fargate. Não criei recursos na AWS, nem fiz deploy hospitalar.</a:t>
            </a:r>
            <a:endParaRPr/>
          </a:p>
          <a:p xmlns:a="http://schemas.openxmlformats.org/drawingml/2006/main">
            <a:r>
              <a:t>Fontes:</a:t>
            </a:r>
          </a:p>
          <a:p xmlns:a="http://schemas.openxmlformats.org/drawingml/2006/main">
            <a:r>
              <a:t>https://github.com/ygormartinelli/tech-challenge-fase-3/blob/dd3947853e179c72581121c7a8b001caa61b22c5/README.md</a:t>
            </a:r>
          </a:p>
          <a:p xmlns:a="http://schemas.openxmlformats.org/drawingml/2006/main">
            <a:r>
              <a:t>https://github.com/ygormartinelli/tech-challenge-fase-3/blob/dd3947853e179c72581121c7a8b001caa61b22c5/docker/docker-compose.yml</a:t>
            </a:r>
            <a:endParaRPr/>
          </a:p>
          <a:p xmlns:a="http://schemas.openxmlformats.org/drawingml/2006/main">
            <a:r>
              <a:t>https://github.com/ygormartinelli/tech-challenge-fase-3/blob/dd3947853e179c72581121c7a8b001caa61b22c5/.github/workflows/ci.yml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AÇÃO, 1:05 a 1:50</a:t>
            </a:r>
          </a:p>
          <a:p xmlns:a="http://schemas.openxmlformats.org/drawingml/2006/main">
            <a:r>
              <a:t>Criei 75 cenários fictícios com assistência de IA, inspirados nos cinco temas do corpus, sem relabelar abstracts nem usar anotação clínica especializada. Separei 45 cenários para treino e 30 para teste antes de gerar variações neutras de redação. As 3.300 linhas continuam representando somente 75 cenários. Não há cenário nem texto repetido entre as partições. No teste com uma redação por cenário, o modelo acertou 22 de 30, com macro-F1 de 0,738. Houve oito erros, incluindo três urgentes classificados como atenção. Essa amostra não estima desempenho clínico. A aceitação acadêmica da adaptação e da diversidade precisa de confirmação institucional.</a:t>
            </a:r>
            <a:endParaRPr/>
          </a:p>
          <a:p xmlns:a="http://schemas.openxmlformats.org/drawingml/2006/main">
            <a:r>
              <a:t>Fontes:</a:t>
            </a:r>
          </a:p>
          <a:p xmlns:a="http://schemas.openxmlformats.org/drawingml/2006/main">
            <a:r>
              <a:t>https://github.com/ygormartinelli/tech-challenge-fase-3/blob/dd3947853e179c72581121c7a8b001caa61b22c5/reports/data_generation.json</a:t>
            </a:r>
          </a:p>
          <a:p xmlns:a="http://schemas.openxmlformats.org/drawingml/2006/main">
            <a:r>
              <a:t>https://github.com/ygormartinelli/tech-challenge-fase-3/blob/dd3947853e179c72581121c7a8b001caa61b22c5/reports/evaluation.json</a:t>
            </a:r>
            <a:endParaRPr/>
          </a:p>
          <a:p xmlns:a="http://schemas.openxmlformats.org/drawingml/2006/main">
            <a:r>
              <a:t>https://github.com/ygormartinelli/tech-challenge-fase-3/blob/dd3947853e179c72581121c7a8b001caa61b22c5/docs/eda.md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AÇÃO, 1:50 a 2:35</a:t>
            </a:r>
          </a:p>
          <a:p xmlns:a="http://schemas.openxmlformats.org/drawingml/2006/main">
            <a:r>
              <a:t>Este print mostra uma chamada real ao serviço local com um texto fictício de hemorragia e instabilidade circulatória. A API respondeu urgente, com ONNX, origem synthetic e revisão humana obrigatória. A confiança é uma saída não calibrada do modelo, não uma probabilidade de risco do paciente. O aviso acompanha toda resposta. O carregador bloqueia o modelo antigo de doenças. A Factory seleciona a variante, e adaptadores Strategy mantêm o mesmo contrato entre scikit-learn e ONNX. Testamos entradas válidas, malformadas e falhas seguras, sem registrar laudos nas métricas.</a:t>
            </a:r>
            <a:endParaRPr/>
          </a:p>
          <a:p xmlns:a="http://schemas.openxmlformats.org/drawingml/2006/main">
            <a:r>
              <a:t>Fontes:</a:t>
            </a:r>
          </a:p>
          <a:p xmlns:a="http://schemas.openxmlformats.org/drawingml/2006/main">
            <a:r>
              <a:t>https://github.com/ygormartinelli/tech-challenge-fase-3/blob/dd3947853e179c72581121c7a8b001caa61b22c5/README.md</a:t>
            </a:r>
          </a:p>
          <a:p xmlns:a="http://schemas.openxmlformats.org/drawingml/2006/main">
            <a:r>
              <a:t>https://github.com/ygormartinelli/tech-challenge-fase-3/blob/dd3947853e179c72581121c7a8b001caa61b22c5/src/techchallenge_fase3/api/main.py</a:t>
            </a:r>
            <a:endParaRPr/>
          </a:p>
          <a:p xmlns:a="http://schemas.openxmlformats.org/drawingml/2006/main">
            <a:r>
              <a:t>Print real: http://localhost:8000/docs, resposta de 16/09/2026 01:12:03 UTC. Texto fictício do README. confidence=0.9915614724159241.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AÇÃO, 2:35 a 3:20</a:t>
            </a:r>
          </a:p>
          <a:p xmlns:a="http://schemas.openxmlformats.org/drawingml/2006/main">
            <a:r>
              <a:t>O Airflow executou estas seis tarefas pelo scheduler: validar os dados, treinar o candidato, exportar ONNX, avaliar, comparar latência e publicar. Cada tarefa chama um comando reutilizável do projeto. O run exibido usa a base de urgência sintética e terminou com seis sucessos. A publicação exige paridade e ganho de p50 nas três rodadas. As releases são imutáveis e o ponteiro muda atomicamente. Se o candidato falhar, a release anterior permanece publicada. Depois de um retreino aprovado, a API precisa reiniciar para carregar a nova release. Este perfil standalone é somente local.</a:t>
            </a:r>
            <a:endParaRPr/>
          </a:p>
          <a:p xmlns:a="http://schemas.openxmlformats.org/drawingml/2006/main">
            <a:r>
              <a:t>Fontes:</a:t>
            </a:r>
          </a:p>
          <a:p xmlns:a="http://schemas.openxmlformats.org/drawingml/2006/main">
            <a:r>
              <a:t>https://github.com/ygormartinelli/tech-challenge-fase-3/blob/dd3947853e179c72581121c7a8b001caa61b22c5/dags/retrain_medical_classifier.py</a:t>
            </a:r>
          </a:p>
          <a:p xmlns:a="http://schemas.openxmlformats.org/drawingml/2006/main">
            <a:r>
              <a:t>https://github.com/ygormartinelli/tech-challenge-fase-3/blob/dd3947853e179c72581121c7a8b001caa61b22c5/reports/airflow_verification.json</a:t>
            </a:r>
            <a:endParaRPr/>
          </a:p>
          <a:p xmlns:a="http://schemas.openxmlformats.org/drawingml/2006/main">
            <a:r>
              <a:t>Print real: http://localhost:8080/dags/retrain_medical_classifier/grid?tab=graph&amp;dag_run_id=acceptance-synthetic-urgency-20260916, capturado em 16/09/2026 01:16 UTC. Histórico preservado após recuperar a interface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 3:20 a 4:05</a:t>
            </a:r>
          </a:p>
          <a:p xmlns:a="http://schemas.openxmlformats.org/drawingml/2006/main">
            <a:r>
              <a:t>O Grafana mostra tráfego sintético real enviado à API. Prometheus coleta o contador de requisições, o histograma de duração e as falhas de inferência. Os quatro painéis distinguem volume, p50 e p95 HTTP, falhas internas e respostas 4xx ou 5xx. As entradas inválidas do teste exercitam o 422. O painel é operacional: zero falhas internas não significa zero erros de classificação. Os quantis dependem dos buckets e de tráfego recente. Nenhum texto entra como label de métrica. O dashboard já acompanha o Compose, com provisionamento automático.</a:t>
            </a:r>
            <a:endParaRPr/>
          </a:p>
          <a:p xmlns:a="http://schemas.openxmlformats.org/drawingml/2006/main">
            <a:r>
              <a:t>Fontes:</a:t>
            </a:r>
          </a:p>
          <a:p xmlns:a="http://schemas.openxmlformats.org/drawingml/2006/main">
            <a:r>
              <a:t>https://github.com/ygormartinelli/tech-challenge-fase-3/blob/dd3947853e179c72581121c7a8b001caa61b22c5/docker/grafana/provisioning/dashboards/medical-classifier.json</a:t>
            </a:r>
          </a:p>
          <a:p xmlns:a="http://schemas.openxmlformats.org/drawingml/2006/main">
            <a:r>
              <a:t>https://github.com/ygormartinelli/tech-challenge-fase-3/blob/dd3947853e179c72581121c7a8b001caa61b22c5/scripts/verify_stack.py</a:t>
            </a:r>
            <a:endParaRPr/>
          </a:p>
          <a:p xmlns:a="http://schemas.openxmlformats.org/drawingml/2006/main">
            <a:r>
              <a:t>Print real: http://localhost:3000/d/medical-classifier, capturado em 16/09/2026 01:12 UTC. Tráfego exclusivamente sintético. A janela móvel pode mostrar 0% após cessarem os erros 422.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 4:05 a 4:45</a:t>
            </a:r>
          </a:p>
          <a:p xmlns:a="http://schemas.openxmlformats.org/drawingml/2006/main">
            <a:r>
              <a:t>No benchmark local, o p50 da inferência caiu de 0,7277 para 0,0351 milissegundo, uma redução de 95,2%. Foram 20 aquecimentos e 200 predições por rodada, em três rodadas pareadas. Não houve divergência de rótulo em 606 entradas. ONNX float ganhou desempenho sem quantização. No ensaio HTTP, separado, o p95 ficou em 27,65 contra 25,18 milissegundos. São medições locais, sem garantia de SLA. A revisão tem 51 testes e três jobs de CI aprovados. O resultado comprova o ciclo técnico. Dados anotados por especialistas e validação externa ainda seriam necessários para qualquer aplicação clínica.</a:t>
            </a:r>
            <a:endParaRPr/>
          </a:p>
          <a:p xmlns:a="http://schemas.openxmlformats.org/drawingml/2006/main">
            <a:r>
              <a:t>Fontes:</a:t>
            </a:r>
          </a:p>
          <a:p xmlns:a="http://schemas.openxmlformats.org/drawingml/2006/main">
            <a:r>
              <a:t>https://github.com/ygormartinelli/tech-challenge-fase-3/blob/dd3947853e179c72581121c7a8b001caa61b22c5/reports/latency_benchmark.json</a:t>
            </a:r>
          </a:p>
          <a:p xmlns:a="http://schemas.openxmlformats.org/drawingml/2006/main">
            <a:r>
              <a:t>https://github.com/ygormartinelli/tech-challenge-fase-3/blob/dd3947853e179c72581121c7a8b001caa61b22c5/reports/http_original.json</a:t>
            </a:r>
            <a:endParaRPr/>
          </a:p>
          <a:p xmlns:a="http://schemas.openxmlformats.org/drawingml/2006/main">
            <a:r>
              <a:t>https://github.com/ygormartinelli/tech-challenge-fase-3/blob/dd3947853e179c72581121c7a8b001caa61b22c5/reports/http_optimized.json</a:t>
            </a:r>
          </a:p>
          <a:p xmlns:a="http://schemas.openxmlformats.org/drawingml/2006/main">
            <a:r>
              <a:t>https://github.com/ygormartinelli/tech-challenge-fase-3/blob/dd3947853e179c72581121c7a8b001caa61b22c5/README.md</a:t>
            </a:r>
          </a:p>
          <a:p xmlns:a="http://schemas.openxmlformats.org/drawingml/2006/main">
            <a:r>
              <a:t>CI: https://github.com/ygormartinelli/tech-challenge-fase-3/actions/runs/35042052454</a:t>
            </a:r>
          </a:p>
          <a:p xmlns:a="http://schemas.openxmlformats.org/drawingml/2006/main">
            <a:r>
              <a:t>Cálculo: (1 - 0.03510000169626437 / 0.7277000004251022) × 100 = 95,1766%. Windows/CPU, inferência sequencial isolada. A equivalência valida a implementação, não a correção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ENCERRAMENTO, 4:45 a 4:50</a:t>
            </a:r>
          </a:p>
          <a:p xmlns:a="http://schemas.openxmlformats.org/drawingml/2006/main">
            <a:r>
              <a:t>Obrigado! O repositório reúne o código, os resultados e as limitações desta demonstração.</a:t>
            </a:r>
            <a:endParaRPr/>
          </a:p>
          <a:p xmlns:a="http://schemas.openxmlformats.org/drawingml/2006/main">
            <a:r>
              <a:t>Fontes:</a:t>
            </a:r>
          </a:p>
          <a:p xmlns:a="http://schemas.openxmlformats.org/drawingml/2006/main">
            <a:r>
              <a:t>https://github.com/ygormartinelli/tech-challenge-fase-3/blob/dd3947853e179c72581121c7a8b001caa61b22c5/README.md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06ec746a564e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52856b1da7424e" /><Relationship Type="http://schemas.openxmlformats.org/officeDocument/2006/relationships/slideLayout" Target="/ppt/slideLayouts/slideLayout1.xml" Id="Rfc553ad9baf242e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553ad9baf242e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741ed6fa064c95" /><Relationship Type="http://schemas.openxmlformats.org/officeDocument/2006/relationships/image" Target="/ppt/media/image.png" Id="R931eed8796e54cf2" /><Relationship Type="http://schemas.openxmlformats.org/officeDocument/2006/relationships/notesSlide" Target="/ppt/notesSlides/notesSlide1.xml" Id="Re53a8b6f3dc042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f113b5e5144945" /><Relationship Type="http://schemas.openxmlformats.org/officeDocument/2006/relationships/notesSlide" Target="/ppt/notesSlides/notesSlide2.xml" Id="R325c33e0697d4bf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56d66223404266" /><Relationship Type="http://schemas.openxmlformats.org/officeDocument/2006/relationships/notesSlide" Target="/ppt/notesSlides/notesSlide3.xml" Id="R665edb3c803144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889e54f181486c" /><Relationship Type="http://schemas.openxmlformats.org/officeDocument/2006/relationships/image" Target="/ppt/media/image.jpeg" Id="R77f3bc8c792b4dbc" /><Relationship Type="http://schemas.openxmlformats.org/officeDocument/2006/relationships/notesSlide" Target="/ppt/notesSlides/notesSlide4.xml" Id="Rb1d39a26578141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cb6cbb0c024694" /><Relationship Type="http://schemas.openxmlformats.org/officeDocument/2006/relationships/image" Target="/ppt/media/image2.jpeg" Id="R88f46f3a945d46f8" /><Relationship Type="http://schemas.openxmlformats.org/officeDocument/2006/relationships/notesSlide" Target="/ppt/notesSlides/notesSlide5.xml" Id="R71030f63674741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60236c9aea4676" /><Relationship Type="http://schemas.openxmlformats.org/officeDocument/2006/relationships/image" Target="/ppt/media/image3.jpeg" Id="R7ec5a7e8ec4d467f" /><Relationship Type="http://schemas.openxmlformats.org/officeDocument/2006/relationships/notesSlide" Target="/ppt/notesSlides/notesSlide6.xml" Id="R655f8eb6090743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8114ad785245d7" /><Relationship Type="http://schemas.openxmlformats.org/officeDocument/2006/relationships/notesSlide" Target="/ppt/notesSlides/notesSlide7.xml" Id="R914d62cf49ff46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6e9411817a49c6" /><Relationship Type="http://schemas.openxmlformats.org/officeDocument/2006/relationships/image" Target="/ppt/media/image.png" Id="R0c742c47ee854202" /><Relationship Type="http://schemas.openxmlformats.org/officeDocument/2006/relationships/notesSlide" Target="/ppt/notesSlides/notesSlide8.xml" Id="R7259144b9d8f478a" /></Relationships>
</file>

<file path=ppt/slides/slide1.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pic>
        <p:nvPicPr>
          <p:cNvPr id="10" name="Imagem 8"/>
          <p:cNvPicPr>
            <a:picLocks xmlns:a="http://schemas.openxmlformats.org/drawingml/2006/main" noChangeAspect="1"/>
          </p:cNvPicPr>
          <p:nvPr/>
        </p:nvPicPr>
        <p:blipFill>
          <a:blip xmlns:r="http://schemas.openxmlformats.org/officeDocument/2006/relationships" xmlns:a="http://schemas.openxmlformats.org/drawingml/2006/main" r:embed="R931eed8796e54cf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STAR stage">
            <a:extLst xmlns:a="http://schemas.openxmlformats.org/drawingml/2006/main">
              <a:ext uri="{FF2B5EF4-FFF2-40B4-BE49-F238E27FC236}">
                <a16:creationId xmlns:a16="http://schemas.microsoft.com/office/drawing/2014/main" id="{AAF30F81-0571-4B73-900A-3A5D0B1E8CB6}"/>
              </a:ext>
            </a:extLst>
          </p:cNvPr>
          <p:cNvSpPr>
            <a:spLocks xmlns:a="http://schemas.openxmlformats.org/drawingml/2006/main" noGrp="1"/>
          </p:cNvSpPr>
          <p:nvPr/>
        </p:nvSpPr>
        <p:spPr>
          <a:xfrm xmlns:a="http://schemas.openxmlformats.org/drawingml/2006/main">
            <a:off x="685800" y="466725"/>
            <a:ext cx="619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E3CD"/>
                </a:solidFill>
                <a:latin typeface="Arial"/>
                <a:ea typeface="Arial"/>
                <a:cs typeface="Arial"/>
              </a:defRPr>
            </a:pPr>
            <a:r>
              <a:rPr sz="1725" b="1">
                <a:solidFill>
                  <a:srgbClr val="83E3CD"/>
                </a:solidFill>
                <a:latin typeface="Arial"/>
                <a:ea typeface="Arial"/>
                <a:cs typeface="Arial"/>
              </a:rPr>
              <a:t>S  SITUAÇÃO</a:t>
            </a:r>
          </a:p>
        </p:txBody>
      </p:sp>
      <p:sp>
        <p:nvSpPr>
          <p:cNvPr id="3" name="Speaking time">
            <a:extLst xmlns:a="http://schemas.openxmlformats.org/drawingml/2006/main">
              <a:ext uri="{FF2B5EF4-FFF2-40B4-BE49-F238E27FC236}">
                <a16:creationId xmlns:a16="http://schemas.microsoft.com/office/drawing/2014/main" id="{886069DE-D63F-4932-9B8C-F1FE1CCDC981}"/>
              </a:ext>
            </a:extLst>
          </p:cNvPr>
          <p:cNvSpPr>
            <a:spLocks xmlns:a="http://schemas.openxmlformats.org/drawingml/2006/main" noGrp="1"/>
          </p:cNvSpPr>
          <p:nvPr/>
        </p:nvSpPr>
        <p:spPr>
          <a:xfrm xmlns:a="http://schemas.openxmlformats.org/drawingml/2006/main">
            <a:off x="9810750" y="4953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0:00 a 0:35</a:t>
            </a:r>
          </a:p>
        </p:txBody>
      </p:sp>
      <p:sp>
        <p:nvSpPr>
          <p:cNvPr id="4" name="Cover title">
            <a:extLst xmlns:a="http://schemas.openxmlformats.org/drawingml/2006/main">
              <a:ext uri="{FF2B5EF4-FFF2-40B4-BE49-F238E27FC236}">
                <a16:creationId xmlns:a16="http://schemas.microsoft.com/office/drawing/2014/main" id="{48736E0F-FFE3-4AA0-8E62-395730E9A852}"/>
              </a:ext>
            </a:extLst>
          </p:cNvPr>
          <p:cNvSpPr>
            <a:spLocks xmlns:a="http://schemas.openxmlformats.org/drawingml/2006/main" noGrp="1"/>
          </p:cNvSpPr>
          <p:nvPr/>
        </p:nvSpPr>
        <p:spPr>
          <a:xfrm xmlns:a="http://schemas.openxmlformats.org/drawingml/2006/main">
            <a:off x="685800" y="1552575"/>
            <a:ext cx="8239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F7FAF8"/>
                </a:solidFill>
                <a:latin typeface="Arial"/>
                <a:ea typeface="Arial"/>
                <a:cs typeface="Arial"/>
              </a:defRPr>
            </a:pPr>
            <a:r>
              <a:rPr sz="5700" b="1">
                <a:solidFill>
                  <a:srgbClr val="F7FAF8"/>
                </a:solidFill>
                <a:latin typeface="Arial"/>
                <a:ea typeface="Arial"/>
                <a:cs typeface="Arial"/>
              </a:rPr>
              <a:t>Urgência em</a:t>
            </a:r>
          </a:p>
          <a:p xmlns:a="http://schemas.openxmlformats.org/drawingml/2006/main">
            <a:pPr algn="l">
              <a:buNone/>
              <a:defRPr sz="5700" b="1">
                <a:solidFill>
                  <a:srgbClr val="F7FAF8"/>
                </a:solidFill>
                <a:latin typeface="Arial"/>
                <a:ea typeface="Arial"/>
                <a:cs typeface="Arial"/>
              </a:defRPr>
            </a:pPr>
            <a:r>
              <a:rPr sz="5700" b="1">
                <a:solidFill>
                  <a:srgbClr val="F7FAF8"/>
                </a:solidFill>
                <a:latin typeface="Arial"/>
                <a:ea typeface="Arial"/>
                <a:cs typeface="Arial"/>
              </a:rPr>
              <a:t>laudos sintéticos</a:t>
            </a:r>
          </a:p>
        </p:txBody>
      </p:sp>
      <p:sp>
        <p:nvSpPr>
          <p:cNvPr id="5" name="Project name">
            <a:extLst xmlns:a="http://schemas.openxmlformats.org/drawingml/2006/main">
              <a:ext uri="{FF2B5EF4-FFF2-40B4-BE49-F238E27FC236}">
                <a16:creationId xmlns:a16="http://schemas.microsoft.com/office/drawing/2014/main" id="{BBF5ACC4-3CA2-46D7-BB6E-5FCFF4CA4B75}"/>
              </a:ext>
            </a:extLst>
          </p:cNvPr>
          <p:cNvSpPr>
            <a:spLocks xmlns:a="http://schemas.openxmlformats.org/drawingml/2006/main" noGrp="1"/>
          </p:cNvSpPr>
          <p:nvPr/>
        </p:nvSpPr>
        <p:spPr>
          <a:xfrm xmlns:a="http://schemas.openxmlformats.org/drawingml/2006/main">
            <a:off x="723900" y="361950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83E3CD"/>
                </a:solidFill>
                <a:latin typeface="Arial"/>
                <a:ea typeface="Arial"/>
                <a:cs typeface="Arial"/>
              </a:defRPr>
            </a:pPr>
            <a:r>
              <a:rPr sz="2250" b="0">
                <a:solidFill>
                  <a:srgbClr val="83E3CD"/>
                </a:solidFill>
                <a:latin typeface="Arial"/>
                <a:ea typeface="Arial"/>
                <a:cs typeface="Arial"/>
              </a:rPr>
              <a:t>Tech Challenge Fase 3</a:t>
            </a:r>
          </a:p>
        </p:txBody>
      </p:sp>
      <p:sp>
        <p:nvSpPr>
          <p:cNvPr id="6" name="Situation">
            <a:extLst xmlns:a="http://schemas.openxmlformats.org/drawingml/2006/main">
              <a:ext uri="{FF2B5EF4-FFF2-40B4-BE49-F238E27FC236}">
                <a16:creationId xmlns:a16="http://schemas.microsoft.com/office/drawing/2014/main" id="{D831C004-3285-4381-B73A-00940E2E23BA}"/>
              </a:ext>
            </a:extLst>
          </p:cNvPr>
          <p:cNvSpPr>
            <a:spLocks xmlns:a="http://schemas.openxmlformats.org/drawingml/2006/main" noGrp="1"/>
          </p:cNvSpPr>
          <p:nvPr/>
        </p:nvSpPr>
        <p:spPr>
          <a:xfrm xmlns:a="http://schemas.openxmlformats.org/drawingml/2006/main">
            <a:off x="723900" y="4333875"/>
            <a:ext cx="7858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F7FAF8"/>
                </a:solidFill>
                <a:latin typeface="Arial"/>
                <a:ea typeface="Arial"/>
                <a:cs typeface="Arial"/>
              </a:defRPr>
            </a:pPr>
            <a:r>
              <a:rPr sz="2325" b="0">
                <a:solidFill>
                  <a:srgbClr val="F7FAF8"/>
                </a:solidFill>
                <a:latin typeface="Arial"/>
                <a:ea typeface="Arial"/>
                <a:cs typeface="Arial"/>
              </a:rPr>
              <a:t>Normal, atenção ou urgente</a:t>
            </a:r>
          </a:p>
          <a:p xmlns:a="http://schemas.openxmlformats.org/drawingml/2006/main">
            <a:pPr algn="l">
              <a:buNone/>
              <a:defRPr sz="2325" b="0">
                <a:solidFill>
                  <a:srgbClr val="F7FAF8"/>
                </a:solidFill>
                <a:latin typeface="Arial"/>
                <a:ea typeface="Arial"/>
                <a:cs typeface="Arial"/>
              </a:defRPr>
            </a:pPr>
            <a:r>
              <a:rPr sz="2325" b="0">
                <a:solidFill>
                  <a:srgbClr val="F7FAF8"/>
                </a:solidFill>
                <a:latin typeface="Arial"/>
                <a:ea typeface="Arial"/>
                <a:cs typeface="Arial"/>
              </a:rPr>
              <a:t>em uma demonstração acadêmica.</a:t>
            </a:r>
          </a:p>
        </p:txBody>
      </p:sp>
      <p:sp>
        <p:nvSpPr>
          <p:cNvPr id="7" name="Author">
            <a:extLst xmlns:a="http://schemas.openxmlformats.org/drawingml/2006/main">
              <a:ext uri="{FF2B5EF4-FFF2-40B4-BE49-F238E27FC236}">
                <a16:creationId xmlns:a16="http://schemas.microsoft.com/office/drawing/2014/main" id="{221DBA2A-DBC7-49AE-915D-436514305678}"/>
              </a:ext>
            </a:extLst>
          </p:cNvPr>
          <p:cNvSpPr>
            <a:spLocks xmlns:a="http://schemas.openxmlformats.org/drawingml/2006/main" noGrp="1"/>
          </p:cNvSpPr>
          <p:nvPr/>
        </p:nvSpPr>
        <p:spPr>
          <a:xfrm xmlns:a="http://schemas.openxmlformats.org/drawingml/2006/main">
            <a:off x="723900" y="5657850"/>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F7FAF8"/>
                </a:solidFill>
                <a:latin typeface="Arial"/>
                <a:ea typeface="Arial"/>
                <a:cs typeface="Arial"/>
              </a:defRPr>
            </a:pPr>
            <a:r>
              <a:rPr sz="1725" b="1">
                <a:solidFill>
                  <a:srgbClr val="F7FAF8"/>
                </a:solidFill>
                <a:latin typeface="Arial"/>
                <a:ea typeface="Arial"/>
                <a:cs typeface="Arial"/>
              </a:rPr>
              <a:t>Ygor Martinelli</a:t>
            </a:r>
          </a:p>
        </p:txBody>
      </p:sp>
      <p:sp>
        <p:nvSpPr>
          <p:cNvPr id="8" name="Educational scope">
            <a:extLst xmlns:a="http://schemas.openxmlformats.org/drawingml/2006/main">
              <a:ext uri="{FF2B5EF4-FFF2-40B4-BE49-F238E27FC236}">
                <a16:creationId xmlns:a16="http://schemas.microsoft.com/office/drawing/2014/main" id="{13E11BD1-6B6B-43D6-9A40-24B3B7B719D8}"/>
              </a:ext>
            </a:extLst>
          </p:cNvPr>
          <p:cNvSpPr>
            <a:spLocks xmlns:a="http://schemas.openxmlformats.org/drawingml/2006/main" noGrp="1"/>
          </p:cNvSpPr>
          <p:nvPr/>
        </p:nvSpPr>
        <p:spPr>
          <a:xfrm xmlns:a="http://schemas.openxmlformats.org/drawingml/2006/main">
            <a:off x="723900" y="6143625"/>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B9CFD2"/>
                </a:solidFill>
                <a:latin typeface="Arial"/>
                <a:ea typeface="Arial"/>
                <a:cs typeface="Arial"/>
              </a:defRPr>
            </a:pPr>
            <a:r>
              <a:rPr sz="1575" b="0">
                <a:solidFill>
                  <a:srgbClr val="B9CFD2"/>
                </a:solidFill>
                <a:latin typeface="Arial"/>
                <a:ea typeface="Arial"/>
                <a:cs typeface="Arial"/>
              </a:rPr>
              <a:t>Dados sintéticos. Sem uso em triagem clínica, diagnóstico ou tratamento.</a:t>
            </a:r>
          </a:p>
        </p:txBody>
      </p:sp>
    </p:spTree>
    <p:extLst>
      <p:ext uri="{BB962C8B-B14F-4D97-AF65-F5344CB8AC3E}">
        <p14:creationId xmlns:p14="http://schemas.microsoft.com/office/powerpoint/2010/main" val="2057874654"/>
      </p:ext>
    </p:extLst>
  </p:cSld>
</p:sld>
</file>

<file path=ppt/slides/slide2.xml><?xml version="1.0" encoding="utf-8"?>
<p:sld xmlns:p="http://schemas.openxmlformats.org/presentationml/2006/main">
  <p:cSld>
    <p:bg>
      <p:bgPr>
        <a:solidFill xmlns:a="http://schemas.openxmlformats.org/drawingml/2006/main">
          <a:srgbClr val="F2F6F4"/>
        </a:solidFill>
      </p:bgPr>
    </p:bg>
    <p:spTree>
      <p:nvGrpSpPr>
        <p:cNvPr id="1" name=""/>
        <p:cNvGrpSpPr/>
        <p:nvPr/>
      </p:nvGrpSpPr>
      <p:grpSpPr>
        <a:xfrm xmlns:a="http://schemas.openxmlformats.org/drawingml/2006/main"/>
      </p:grpSpPr>
      <p:sp>
        <p:nvSpPr>
          <p:cNvPr id="10" name="STAR stage">
            <a:extLst xmlns:a="http://schemas.openxmlformats.org/drawingml/2006/main">
              <a:ext uri="{FF2B5EF4-FFF2-40B4-BE49-F238E27FC236}">
                <a16:creationId xmlns:a16="http://schemas.microsoft.com/office/drawing/2014/main" id="{ADD56711-1026-4EE2-9010-8F1ACA579CD1}"/>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0B716D"/>
                </a:solidFill>
                <a:latin typeface="Arial"/>
                <a:ea typeface="Arial"/>
                <a:cs typeface="Arial"/>
              </a:defRPr>
            </a:pPr>
            <a:r>
              <a:rPr sz="1725" b="1">
                <a:solidFill>
                  <a:srgbClr val="0B716D"/>
                </a:solidFill>
                <a:latin typeface="Arial"/>
                <a:ea typeface="Arial"/>
                <a:cs typeface="Arial"/>
              </a:rPr>
              <a:t>T  TAREFA</a:t>
            </a:r>
          </a:p>
        </p:txBody>
      </p:sp>
      <p:sp>
        <p:nvSpPr>
          <p:cNvPr id="2" name="Speaking time">
            <a:extLst xmlns:a="http://schemas.openxmlformats.org/drawingml/2006/main">
              <a:ext uri="{FF2B5EF4-FFF2-40B4-BE49-F238E27FC236}">
                <a16:creationId xmlns:a16="http://schemas.microsoft.com/office/drawing/2014/main" id="{FF33790A-C2F7-4609-9727-7BC7246743C2}"/>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526B72"/>
                </a:solidFill>
                <a:latin typeface="Arial"/>
                <a:ea typeface="Arial"/>
                <a:cs typeface="Arial"/>
              </a:defRPr>
            </a:pPr>
            <a:r>
              <a:rPr sz="1350" b="0">
                <a:solidFill>
                  <a:srgbClr val="526B72"/>
                </a:solidFill>
                <a:latin typeface="Arial"/>
                <a:ea typeface="Arial"/>
                <a:cs typeface="Arial"/>
              </a:rPr>
              <a:t>0:35 a 1:05</a:t>
            </a:r>
          </a:p>
        </p:txBody>
      </p:sp>
      <p:sp>
        <p:nvSpPr>
          <p:cNvPr id="3" name="Slide title">
            <a:extLst xmlns:a="http://schemas.openxmlformats.org/drawingml/2006/main">
              <a:ext uri="{FF2B5EF4-FFF2-40B4-BE49-F238E27FC236}">
                <a16:creationId xmlns:a16="http://schemas.microsoft.com/office/drawing/2014/main" id="{44C51F5D-46E8-46A3-A825-00F6F93BB8B6}"/>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02E39"/>
                </a:solidFill>
                <a:latin typeface="Arial"/>
                <a:ea typeface="Arial"/>
                <a:cs typeface="Arial"/>
              </a:defRPr>
            </a:pPr>
            <a:r>
              <a:rPr sz="3300" b="1">
                <a:solidFill>
                  <a:srgbClr val="102E39"/>
                </a:solidFill>
                <a:latin typeface="Arial"/>
                <a:ea typeface="Arial"/>
                <a:cs typeface="Arial"/>
              </a:rPr>
              <a:t>Escopo da entrega</a:t>
            </a:r>
          </a:p>
        </p:txBody>
      </p:sp>
      <p:sp>
        <p:nvSpPr>
          <p:cNvPr id="4" name="Local heading">
            <a:extLst xmlns:a="http://schemas.openxmlformats.org/drawingml/2006/main">
              <a:ext uri="{FF2B5EF4-FFF2-40B4-BE49-F238E27FC236}">
                <a16:creationId xmlns:a16="http://schemas.microsoft.com/office/drawing/2014/main" id="{7AB2C4BE-6BFD-41A6-9681-D9E889EB1052}"/>
              </a:ext>
            </a:extLst>
          </p:cNvPr>
          <p:cNvSpPr>
            <a:spLocks xmlns:a="http://schemas.openxmlformats.org/drawingml/2006/main" noGrp="1"/>
          </p:cNvSpPr>
          <p:nvPr/>
        </p:nvSpPr>
        <p:spPr>
          <a:xfrm xmlns:a="http://schemas.openxmlformats.org/drawingml/2006/main">
            <a:off x="685800" y="20764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02E39"/>
                </a:solidFill>
                <a:latin typeface="Arial"/>
                <a:ea typeface="Arial"/>
                <a:cs typeface="Arial"/>
              </a:defRPr>
            </a:pPr>
            <a:r>
              <a:rPr sz="2550" b="1">
                <a:solidFill>
                  <a:srgbClr val="102E39"/>
                </a:solidFill>
                <a:latin typeface="Arial"/>
                <a:ea typeface="Arial"/>
                <a:cs typeface="Arial"/>
              </a:rPr>
              <a:t>Execução local</a:t>
            </a:r>
          </a:p>
        </p:txBody>
      </p:sp>
      <p:sp>
        <p:nvSpPr>
          <p:cNvPr id="5" name="Local scope">
            <a:extLst xmlns:a="http://schemas.openxmlformats.org/drawingml/2006/main">
              <a:ext uri="{FF2B5EF4-FFF2-40B4-BE49-F238E27FC236}">
                <a16:creationId xmlns:a16="http://schemas.microsoft.com/office/drawing/2014/main" id="{7CBC47CA-EF09-4E4E-BCFF-218B8D980A27}"/>
              </a:ext>
            </a:extLst>
          </p:cNvPr>
          <p:cNvSpPr>
            <a:spLocks xmlns:a="http://schemas.openxmlformats.org/drawingml/2006/main" noGrp="1"/>
          </p:cNvSpPr>
          <p:nvPr/>
        </p:nvSpPr>
        <p:spPr>
          <a:xfrm xmlns:a="http://schemas.openxmlformats.org/drawingml/2006/main">
            <a:off x="685800" y="2800350"/>
            <a:ext cx="5334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02E39"/>
                </a:solidFill>
                <a:latin typeface="Arial"/>
                <a:ea typeface="Arial"/>
                <a:cs typeface="Arial"/>
              </a:defRPr>
            </a:pPr>
            <a:r>
              <a:rPr sz="2100" b="0">
                <a:solidFill>
                  <a:srgbClr val="102E39"/>
                </a:solidFill>
                <a:latin typeface="Arial"/>
                <a:ea typeface="Arial"/>
                <a:cs typeface="Arial"/>
              </a:rPr>
              <a:t>FastAPI para três urgências.</a:t>
            </a:r>
          </a:p>
          <a:p xmlns:a="http://schemas.openxmlformats.org/drawingml/2006/main">
            <a:pPr algn="l">
              <a:buNone/>
              <a:defRPr sz="2100" b="0">
                <a:solidFill>
                  <a:srgbClr val="102E39"/>
                </a:solidFill>
                <a:latin typeface="Arial"/>
                <a:ea typeface="Arial"/>
                <a:cs typeface="Arial"/>
              </a:defRPr>
            </a:pPr>
            <a:r>
              <a:rPr sz="2100" b="0">
                <a:solidFill>
                  <a:srgbClr val="102E39"/>
                </a:solidFill>
                <a:latin typeface="Arial"/>
                <a:ea typeface="Arial"/>
                <a:cs typeface="Arial"/>
              </a:rPr>
              <a:t>Prometheus e Grafana para métricas.</a:t>
            </a:r>
          </a:p>
          <a:p xmlns:a="http://schemas.openxmlformats.org/drawingml/2006/main">
            <a:pPr algn="l">
              <a:buNone/>
              <a:defRPr sz="2100" b="0">
                <a:solidFill>
                  <a:srgbClr val="102E39"/>
                </a:solidFill>
                <a:latin typeface="Arial"/>
                <a:ea typeface="Arial"/>
                <a:cs typeface="Arial"/>
              </a:defRPr>
            </a:pPr>
            <a:r>
              <a:rPr sz="2100" b="0">
                <a:solidFill>
                  <a:srgbClr val="102E39"/>
                </a:solidFill>
                <a:latin typeface="Arial"/>
                <a:ea typeface="Arial"/>
                <a:cs typeface="Arial"/>
              </a:rPr>
              <a:t>Airflow para retreino.</a:t>
            </a:r>
          </a:p>
          <a:p xmlns:a="http://schemas.openxmlformats.org/drawingml/2006/main">
            <a:pPr algn="l">
              <a:buNone/>
              <a:defRPr sz="2100" b="0">
                <a:solidFill>
                  <a:srgbClr val="102E39"/>
                </a:solidFill>
                <a:latin typeface="Arial"/>
                <a:ea typeface="Arial"/>
                <a:cs typeface="Arial"/>
              </a:defRPr>
            </a:pPr>
            <a:r>
              <a:rPr sz="2100" b="0">
                <a:solidFill>
                  <a:srgbClr val="102E39"/>
                </a:solidFill>
                <a:latin typeface="Arial"/>
                <a:ea typeface="Arial"/>
                <a:cs typeface="Arial"/>
              </a:rPr>
              <a:t>CI para validar cada alteração.</a:t>
            </a:r>
          </a:p>
        </p:txBody>
      </p:sp>
      <p:sp>
        <p:nvSpPr>
          <p:cNvPr id="6" name="Cloud heading">
            <a:extLst xmlns:a="http://schemas.openxmlformats.org/drawingml/2006/main">
              <a:ext uri="{FF2B5EF4-FFF2-40B4-BE49-F238E27FC236}">
                <a16:creationId xmlns:a16="http://schemas.microsoft.com/office/drawing/2014/main" id="{806369DD-67E0-4C7E-BB3E-54D9A7150CC4}"/>
              </a:ext>
            </a:extLst>
          </p:cNvPr>
          <p:cNvSpPr>
            <a:spLocks xmlns:a="http://schemas.openxmlformats.org/drawingml/2006/main" noGrp="1"/>
          </p:cNvSpPr>
          <p:nvPr/>
        </p:nvSpPr>
        <p:spPr>
          <a:xfrm xmlns:a="http://schemas.openxmlformats.org/drawingml/2006/main">
            <a:off x="6905625" y="20764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02E39"/>
                </a:solidFill>
                <a:latin typeface="Arial"/>
                <a:ea typeface="Arial"/>
                <a:cs typeface="Arial"/>
              </a:defRPr>
            </a:pPr>
            <a:r>
              <a:rPr sz="2550" b="1">
                <a:solidFill>
                  <a:srgbClr val="102E39"/>
                </a:solidFill>
                <a:latin typeface="Arial"/>
                <a:ea typeface="Arial"/>
                <a:cs typeface="Arial"/>
              </a:rPr>
              <a:t>Proposta de produção</a:t>
            </a:r>
          </a:p>
        </p:txBody>
      </p:sp>
      <p:sp>
        <p:nvSpPr>
          <p:cNvPr id="7" name="Cloud choice">
            <a:extLst xmlns:a="http://schemas.openxmlformats.org/drawingml/2006/main">
              <a:ext uri="{FF2B5EF4-FFF2-40B4-BE49-F238E27FC236}">
                <a16:creationId xmlns:a16="http://schemas.microsoft.com/office/drawing/2014/main" id="{BA05D1A7-39D5-45EF-B068-6F53DA4E45BC}"/>
              </a:ext>
            </a:extLst>
          </p:cNvPr>
          <p:cNvSpPr>
            <a:spLocks xmlns:a="http://schemas.openxmlformats.org/drawingml/2006/main" noGrp="1"/>
          </p:cNvSpPr>
          <p:nvPr/>
        </p:nvSpPr>
        <p:spPr>
          <a:xfrm xmlns:a="http://schemas.openxmlformats.org/drawingml/2006/main">
            <a:off x="6905625" y="28003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B716D"/>
                </a:solidFill>
                <a:latin typeface="Arial"/>
                <a:ea typeface="Arial"/>
                <a:cs typeface="Arial"/>
              </a:defRPr>
            </a:pPr>
            <a:r>
              <a:rPr sz="2250" b="1">
                <a:solidFill>
                  <a:srgbClr val="0B716D"/>
                </a:solidFill>
                <a:latin typeface="Arial"/>
                <a:ea typeface="Arial"/>
                <a:cs typeface="Arial"/>
              </a:rPr>
              <a:t>AWS ECS Fargate</a:t>
            </a:r>
          </a:p>
          <a:p xmlns:a="http://schemas.openxmlformats.org/drawingml/2006/main">
            <a:pPr algn="l">
              <a:buNone/>
              <a:defRPr sz="2250" b="1">
                <a:solidFill>
                  <a:srgbClr val="0B716D"/>
                </a:solidFill>
                <a:latin typeface="Arial"/>
                <a:ea typeface="Arial"/>
                <a:cs typeface="Arial"/>
              </a:defRPr>
            </a:pPr>
            <a:r>
              <a:rPr sz="2250" b="1">
                <a:solidFill>
                  <a:srgbClr val="0B716D"/>
                </a:solidFill>
                <a:latin typeface="Arial"/>
                <a:ea typeface="Arial"/>
                <a:cs typeface="Arial"/>
              </a:rPr>
              <a:t>API em tempo real</a:t>
            </a:r>
          </a:p>
        </p:txBody>
      </p:sp>
      <p:sp>
        <p:nvSpPr>
          <p:cNvPr id="8" name="Cloud boundary">
            <a:extLst xmlns:a="http://schemas.openxmlformats.org/drawingml/2006/main">
              <a:ext uri="{FF2B5EF4-FFF2-40B4-BE49-F238E27FC236}">
                <a16:creationId xmlns:a16="http://schemas.microsoft.com/office/drawing/2014/main" id="{8555F0CF-681C-4A4B-ACF6-041AE4A3318A}"/>
              </a:ext>
            </a:extLst>
          </p:cNvPr>
          <p:cNvSpPr>
            <a:spLocks xmlns:a="http://schemas.openxmlformats.org/drawingml/2006/main" noGrp="1"/>
          </p:cNvSpPr>
          <p:nvPr/>
        </p:nvSpPr>
        <p:spPr>
          <a:xfrm xmlns:a="http://schemas.openxmlformats.org/drawingml/2006/main">
            <a:off x="6905625" y="41624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526B72"/>
                </a:solidFill>
                <a:latin typeface="Arial"/>
                <a:ea typeface="Arial"/>
                <a:cs typeface="Arial"/>
              </a:defRPr>
            </a:pPr>
            <a:r>
              <a:rPr sz="2025" b="0">
                <a:solidFill>
                  <a:srgbClr val="526B72"/>
                </a:solidFill>
                <a:latin typeface="Arial"/>
                <a:ea typeface="Arial"/>
                <a:cs typeface="Arial"/>
              </a:rPr>
              <a:t>Arquitetura apenas documentada.</a:t>
            </a:r>
          </a:p>
          <a:p xmlns:a="http://schemas.openxmlformats.org/drawingml/2006/main">
            <a:pPr algn="l">
              <a:buNone/>
              <a:defRPr sz="2025" b="0">
                <a:solidFill>
                  <a:srgbClr val="526B72"/>
                </a:solidFill>
                <a:latin typeface="Arial"/>
                <a:ea typeface="Arial"/>
                <a:cs typeface="Arial"/>
              </a:defRPr>
            </a:pPr>
            <a:r>
              <a:rPr sz="2025" b="0">
                <a:solidFill>
                  <a:srgbClr val="526B72"/>
                </a:solidFill>
                <a:latin typeface="Arial"/>
                <a:ea typeface="Arial"/>
                <a:cs typeface="Arial"/>
              </a:rPr>
              <a:t>Nenhum recurso em nuvem.</a:t>
            </a:r>
          </a:p>
        </p:txBody>
      </p:sp>
      <p:sp>
        <p:nvSpPr>
          <p:cNvPr id="9" name="Model scope">
            <a:extLst xmlns:a="http://schemas.openxmlformats.org/drawingml/2006/main">
              <a:ext uri="{FF2B5EF4-FFF2-40B4-BE49-F238E27FC236}">
                <a16:creationId xmlns:a16="http://schemas.microsoft.com/office/drawing/2014/main" id="{13F5D20E-11BD-4DA8-9011-80D968C54990}"/>
              </a:ext>
            </a:extLst>
          </p:cNvPr>
          <p:cNvSpPr>
            <a:spLocks xmlns:a="http://schemas.openxmlformats.org/drawingml/2006/main" noGrp="1"/>
          </p:cNvSpPr>
          <p:nvPr/>
        </p:nvSpPr>
        <p:spPr>
          <a:xfrm xmlns:a="http://schemas.openxmlformats.org/drawingml/2006/main">
            <a:off x="685800" y="59245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B716D"/>
                </a:solidFill>
                <a:latin typeface="Arial"/>
                <a:ea typeface="Arial"/>
                <a:cs typeface="Arial"/>
              </a:defRPr>
            </a:pPr>
            <a:r>
              <a:rPr sz="2025" b="1">
                <a:solidFill>
                  <a:srgbClr val="0B716D"/>
                </a:solidFill>
                <a:latin typeface="Arial"/>
                <a:ea typeface="Arial"/>
                <a:cs typeface="Arial"/>
              </a:rPr>
              <a:t>TF-IDF + regressão logística, com inferência otimizada em ONNX Runtime.</a:t>
            </a:r>
          </a:p>
        </p:txBody>
      </p:sp>
    </p:spTree>
    <p:extLst>
      <p:ext uri="{BB962C8B-B14F-4D97-AF65-F5344CB8AC3E}">
        <p14:creationId xmlns:p14="http://schemas.microsoft.com/office/powerpoint/2010/main" val="1794031835"/>
      </p:ext>
    </p:extLst>
  </p:cSld>
</p:sld>
</file>

<file path=ppt/slides/slide3.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1" name="STAR stage">
            <a:extLst xmlns:a="http://schemas.openxmlformats.org/drawingml/2006/main">
              <a:ext uri="{FF2B5EF4-FFF2-40B4-BE49-F238E27FC236}">
                <a16:creationId xmlns:a16="http://schemas.microsoft.com/office/drawing/2014/main" id="{1657A4E6-4BDA-49EB-80B2-3822012E3C98}"/>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E3CD"/>
                </a:solidFill>
                <a:latin typeface="Arial"/>
                <a:ea typeface="Arial"/>
                <a:cs typeface="Arial"/>
              </a:defRPr>
            </a:pPr>
            <a:r>
              <a:rPr sz="1725" b="1">
                <a:solidFill>
                  <a:srgbClr val="83E3CD"/>
                </a:solidFill>
                <a:latin typeface="Arial"/>
                <a:ea typeface="Arial"/>
                <a:cs typeface="Arial"/>
              </a:rPr>
              <a:t>A  AÇÃO</a:t>
            </a:r>
          </a:p>
        </p:txBody>
      </p:sp>
      <p:sp>
        <p:nvSpPr>
          <p:cNvPr id="2" name="Speaking time">
            <a:extLst xmlns:a="http://schemas.openxmlformats.org/drawingml/2006/main">
              <a:ext uri="{FF2B5EF4-FFF2-40B4-BE49-F238E27FC236}">
                <a16:creationId xmlns:a16="http://schemas.microsoft.com/office/drawing/2014/main" id="{1EA2807F-5CDD-4636-B682-E787F8C14765}"/>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1:05 a 1:50</a:t>
            </a:r>
          </a:p>
        </p:txBody>
      </p:sp>
      <p:sp>
        <p:nvSpPr>
          <p:cNvPr id="3" name="Slide title">
            <a:extLst xmlns:a="http://schemas.openxmlformats.org/drawingml/2006/main">
              <a:ext uri="{FF2B5EF4-FFF2-40B4-BE49-F238E27FC236}">
                <a16:creationId xmlns:a16="http://schemas.microsoft.com/office/drawing/2014/main" id="{9C30ECAB-3CAE-4263-BE2A-4FEFAC035DCA}"/>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7FAF8"/>
                </a:solidFill>
                <a:latin typeface="Arial"/>
                <a:ea typeface="Arial"/>
                <a:cs typeface="Arial"/>
              </a:defRPr>
            </a:pPr>
            <a:r>
              <a:rPr sz="3300" b="1">
                <a:solidFill>
                  <a:srgbClr val="F7FAF8"/>
                </a:solidFill>
                <a:latin typeface="Arial"/>
                <a:ea typeface="Arial"/>
                <a:cs typeface="Arial"/>
              </a:rPr>
              <a:t>Adaptação sintética e avaliação</a:t>
            </a:r>
          </a:p>
        </p:txBody>
      </p:sp>
      <p:sp>
        <p:nvSpPr>
          <p:cNvPr id="4" name="Overlap metric">
            <a:extLst xmlns:a="http://schemas.openxmlformats.org/drawingml/2006/main">
              <a:ext uri="{FF2B5EF4-FFF2-40B4-BE49-F238E27FC236}">
                <a16:creationId xmlns:a16="http://schemas.microsoft.com/office/drawing/2014/main" id="{94E75A95-CED6-4CF7-9EE8-D2BE8EF3839E}"/>
              </a:ext>
            </a:extLst>
          </p:cNvPr>
          <p:cNvSpPr>
            <a:spLocks xmlns:a="http://schemas.openxmlformats.org/drawingml/2006/main" noGrp="1"/>
          </p:cNvSpPr>
          <p:nvPr/>
        </p:nvSpPr>
        <p:spPr>
          <a:xfrm xmlns:a="http://schemas.openxmlformats.org/drawingml/2006/main">
            <a:off x="685800" y="2009775"/>
            <a:ext cx="5381625"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475" b="1">
                <a:solidFill>
                  <a:srgbClr val="83E3CD"/>
                </a:solidFill>
                <a:latin typeface="Arial"/>
                <a:ea typeface="Arial"/>
                <a:cs typeface="Arial"/>
              </a:defRPr>
            </a:pPr>
            <a:r>
              <a:rPr sz="8475" b="1">
                <a:solidFill>
                  <a:srgbClr val="83E3CD"/>
                </a:solidFill>
                <a:latin typeface="Arial"/>
                <a:ea typeface="Arial"/>
                <a:cs typeface="Arial"/>
              </a:rPr>
              <a:t>75</a:t>
            </a:r>
          </a:p>
        </p:txBody>
      </p:sp>
      <p:sp>
        <p:nvSpPr>
          <p:cNvPr id="5" name="Overlap meaning">
            <a:extLst xmlns:a="http://schemas.openxmlformats.org/drawingml/2006/main">
              <a:ext uri="{FF2B5EF4-FFF2-40B4-BE49-F238E27FC236}">
                <a16:creationId xmlns:a16="http://schemas.microsoft.com/office/drawing/2014/main" id="{CFF4255F-8EFA-4CB6-AB00-20A1FCE6E922}"/>
              </a:ext>
            </a:extLst>
          </p:cNvPr>
          <p:cNvSpPr>
            <a:spLocks xmlns:a="http://schemas.openxmlformats.org/drawingml/2006/main" noGrp="1"/>
          </p:cNvSpPr>
          <p:nvPr/>
        </p:nvSpPr>
        <p:spPr>
          <a:xfrm xmlns:a="http://schemas.openxmlformats.org/drawingml/2006/main">
            <a:off x="733425" y="3467100"/>
            <a:ext cx="53340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F7FAF8"/>
                </a:solidFill>
                <a:latin typeface="Arial"/>
                <a:ea typeface="Arial"/>
                <a:cs typeface="Arial"/>
              </a:defRPr>
            </a:pPr>
            <a:r>
              <a:rPr sz="2400" b="0">
                <a:solidFill>
                  <a:srgbClr val="F7FAF8"/>
                </a:solidFill>
                <a:latin typeface="Arial"/>
                <a:ea typeface="Arial"/>
                <a:cs typeface="Arial"/>
              </a:rPr>
              <a:t>cenários fictícios nos cinco</a:t>
            </a:r>
          </a:p>
          <a:p xmlns:a="http://schemas.openxmlformats.org/drawingml/2006/main">
            <a:pPr algn="l">
              <a:buNone/>
              <a:defRPr sz="2400" b="0">
                <a:solidFill>
                  <a:srgbClr val="F7FAF8"/>
                </a:solidFill>
                <a:latin typeface="Arial"/>
                <a:ea typeface="Arial"/>
                <a:cs typeface="Arial"/>
              </a:defRPr>
            </a:pPr>
            <a:r>
              <a:rPr sz="2400" b="0">
                <a:solidFill>
                  <a:srgbClr val="F7FAF8"/>
                </a:solidFill>
                <a:latin typeface="Arial"/>
                <a:ea typeface="Arial"/>
                <a:cs typeface="Arial"/>
              </a:rPr>
              <a:t>temas do corpus sugerido</a:t>
            </a:r>
          </a:p>
        </p:txBody>
      </p:sp>
      <p:sp>
        <p:nvSpPr>
          <p:cNvPr id="6" name="Overlap denominator">
            <a:extLst xmlns:a="http://schemas.openxmlformats.org/drawingml/2006/main">
              <a:ext uri="{FF2B5EF4-FFF2-40B4-BE49-F238E27FC236}">
                <a16:creationId xmlns:a16="http://schemas.microsoft.com/office/drawing/2014/main" id="{A7A93C08-8C7A-4161-B7A7-057EA4EE09A4}"/>
              </a:ext>
            </a:extLst>
          </p:cNvPr>
          <p:cNvSpPr>
            <a:spLocks xmlns:a="http://schemas.openxmlformats.org/drawingml/2006/main" noGrp="1"/>
          </p:cNvSpPr>
          <p:nvPr/>
        </p:nvSpPr>
        <p:spPr>
          <a:xfrm xmlns:a="http://schemas.openxmlformats.org/drawingml/2006/main">
            <a:off x="733425" y="4619625"/>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B9CFD2"/>
                </a:solidFill>
                <a:latin typeface="Arial"/>
                <a:ea typeface="Arial"/>
                <a:cs typeface="Arial"/>
              </a:defRPr>
            </a:pPr>
            <a:r>
              <a:rPr sz="1950" b="0">
                <a:solidFill>
                  <a:srgbClr val="B9CFD2"/>
                </a:solidFill>
                <a:latin typeface="Arial"/>
                <a:ea typeface="Arial"/>
                <a:cs typeface="Arial"/>
              </a:rPr>
              <a:t>2.700 linhas de treino e 600 de teste</a:t>
            </a:r>
          </a:p>
        </p:txBody>
      </p:sp>
      <p:sp>
        <p:nvSpPr>
          <p:cNvPr id="7" name="Validation decision">
            <a:extLst xmlns:a="http://schemas.openxmlformats.org/drawingml/2006/main">
              <a:ext uri="{FF2B5EF4-FFF2-40B4-BE49-F238E27FC236}">
                <a16:creationId xmlns:a16="http://schemas.microsoft.com/office/drawing/2014/main" id="{5E8CBFA8-721C-4ADD-BD92-BA971A289F76}"/>
              </a:ext>
            </a:extLst>
          </p:cNvPr>
          <p:cNvSpPr>
            <a:spLocks xmlns:a="http://schemas.openxmlformats.org/drawingml/2006/main" noGrp="1"/>
          </p:cNvSpPr>
          <p:nvPr/>
        </p:nvSpPr>
        <p:spPr>
          <a:xfrm xmlns:a="http://schemas.openxmlformats.org/drawingml/2006/main">
            <a:off x="6486525" y="21431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F7FAF8"/>
                </a:solidFill>
                <a:latin typeface="Arial"/>
                <a:ea typeface="Arial"/>
                <a:cs typeface="Arial"/>
              </a:defRPr>
            </a:pPr>
            <a:r>
              <a:rPr sz="2400" b="1">
                <a:solidFill>
                  <a:srgbClr val="F7FAF8"/>
                </a:solidFill>
                <a:latin typeface="Arial"/>
                <a:ea typeface="Arial"/>
                <a:cs typeface="Arial"/>
              </a:rPr>
              <a:t>Separação por cenário</a:t>
            </a:r>
          </a:p>
        </p:txBody>
      </p:sp>
      <p:sp>
        <p:nvSpPr>
          <p:cNvPr id="8" name="Vocabulary boundary">
            <a:extLst xmlns:a="http://schemas.openxmlformats.org/drawingml/2006/main">
              <a:ext uri="{FF2B5EF4-FFF2-40B4-BE49-F238E27FC236}">
                <a16:creationId xmlns:a16="http://schemas.microsoft.com/office/drawing/2014/main" id="{EDAE8745-46B9-4C26-8282-188E85B58A88}"/>
              </a:ext>
            </a:extLst>
          </p:cNvPr>
          <p:cNvSpPr>
            <a:spLocks xmlns:a="http://schemas.openxmlformats.org/drawingml/2006/main" noGrp="1"/>
          </p:cNvSpPr>
          <p:nvPr/>
        </p:nvSpPr>
        <p:spPr>
          <a:xfrm xmlns:a="http://schemas.openxmlformats.org/drawingml/2006/main">
            <a:off x="6486525" y="310515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B9CFD2"/>
                </a:solidFill>
                <a:latin typeface="Arial"/>
                <a:ea typeface="Arial"/>
                <a:cs typeface="Arial"/>
              </a:defRPr>
            </a:pPr>
            <a:r>
              <a:rPr sz="2100" b="0">
                <a:solidFill>
                  <a:srgbClr val="B9CFD2"/>
                </a:solidFill>
                <a:latin typeface="Arial"/>
                <a:ea typeface="Arial"/>
                <a:cs typeface="Arial"/>
              </a:rPr>
              <a:t>45 cenários de treino.</a:t>
            </a:r>
          </a:p>
          <a:p xmlns:a="http://schemas.openxmlformats.org/drawingml/2006/main">
            <a:pPr algn="l">
              <a:buNone/>
              <a:defRPr sz="2100" b="0">
                <a:solidFill>
                  <a:srgbClr val="B9CFD2"/>
                </a:solidFill>
                <a:latin typeface="Arial"/>
                <a:ea typeface="Arial"/>
                <a:cs typeface="Arial"/>
              </a:defRPr>
            </a:pPr>
            <a:r>
              <a:rPr sz="2100" b="0">
                <a:solidFill>
                  <a:srgbClr val="B9CFD2"/>
                </a:solidFill>
                <a:latin typeface="Arial"/>
                <a:ea typeface="Arial"/>
                <a:cs typeface="Arial"/>
              </a:rPr>
              <a:t>30 cenários de teste.</a:t>
            </a:r>
          </a:p>
        </p:txBody>
      </p:sp>
      <p:sp>
        <p:nvSpPr>
          <p:cNvPr id="9" name="Conflict decision">
            <a:extLst xmlns:a="http://schemas.openxmlformats.org/drawingml/2006/main">
              <a:ext uri="{FF2B5EF4-FFF2-40B4-BE49-F238E27FC236}">
                <a16:creationId xmlns:a16="http://schemas.microsoft.com/office/drawing/2014/main" id="{47E07A88-49CA-4CAF-94F3-FE048065040F}"/>
              </a:ext>
            </a:extLst>
          </p:cNvPr>
          <p:cNvSpPr>
            <a:spLocks xmlns:a="http://schemas.openxmlformats.org/drawingml/2006/main" noGrp="1"/>
          </p:cNvSpPr>
          <p:nvPr/>
        </p:nvSpPr>
        <p:spPr>
          <a:xfrm xmlns:a="http://schemas.openxmlformats.org/drawingml/2006/main">
            <a:off x="6486525" y="421005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B9CFD2"/>
                </a:solidFill>
                <a:latin typeface="Arial"/>
                <a:ea typeface="Arial"/>
                <a:cs typeface="Arial"/>
              </a:defRPr>
            </a:pPr>
            <a:r>
              <a:rPr sz="2100" b="0">
                <a:solidFill>
                  <a:srgbClr val="B9CFD2"/>
                </a:solidFill>
                <a:latin typeface="Arial"/>
                <a:ea typeface="Arial"/>
                <a:cs typeface="Arial"/>
              </a:rPr>
              <a:t>Teste: 22/30 cenários corretos.</a:t>
            </a:r>
          </a:p>
          <a:p xmlns:a="http://schemas.openxmlformats.org/drawingml/2006/main">
            <a:pPr algn="l">
              <a:buNone/>
              <a:defRPr sz="2100" b="0">
                <a:solidFill>
                  <a:srgbClr val="B9CFD2"/>
                </a:solidFill>
                <a:latin typeface="Arial"/>
                <a:ea typeface="Arial"/>
                <a:cs typeface="Arial"/>
              </a:defRPr>
            </a:pPr>
            <a:r>
              <a:rPr sz="2100" b="0">
                <a:solidFill>
                  <a:srgbClr val="B9CFD2"/>
                </a:solidFill>
                <a:latin typeface="Arial"/>
                <a:ea typeface="Arial"/>
                <a:cs typeface="Arial"/>
              </a:rPr>
              <a:t>3 urgentes receberam atenção.</a:t>
            </a:r>
          </a:p>
          <a:p xmlns:a="http://schemas.openxmlformats.org/drawingml/2006/main">
            <a:pPr algn="l">
              <a:buNone/>
              <a:defRPr sz="2100" b="0">
                <a:solidFill>
                  <a:srgbClr val="B9CFD2"/>
                </a:solidFill>
                <a:latin typeface="Arial"/>
                <a:ea typeface="Arial"/>
                <a:cs typeface="Arial"/>
              </a:defRPr>
            </a:pPr>
            <a:r>
              <a:rPr sz="2100" b="0">
                <a:solidFill>
                  <a:srgbClr val="B9CFD2"/>
                </a:solidFill>
                <a:latin typeface="Arial"/>
                <a:ea typeface="Arial"/>
                <a:cs typeface="Arial"/>
              </a:rPr>
              <a:t>Macro-F1 por cenário: 0,738.</a:t>
            </a:r>
          </a:p>
        </p:txBody>
      </p:sp>
      <p:sp>
        <p:nvSpPr>
          <p:cNvPr id="10" name="Validation result">
            <a:extLst xmlns:a="http://schemas.openxmlformats.org/drawingml/2006/main">
              <a:ext uri="{FF2B5EF4-FFF2-40B4-BE49-F238E27FC236}">
                <a16:creationId xmlns:a16="http://schemas.microsoft.com/office/drawing/2014/main" id="{AE02F094-8E2A-48C5-8545-BD57BA0E07DA}"/>
              </a:ext>
            </a:extLst>
          </p:cNvPr>
          <p:cNvSpPr>
            <a:spLocks xmlns:a="http://schemas.openxmlformats.org/drawingml/2006/main" noGrp="1"/>
          </p:cNvSpPr>
          <p:nvPr/>
        </p:nvSpPr>
        <p:spPr>
          <a:xfrm xmlns:a="http://schemas.openxmlformats.org/drawingml/2006/main">
            <a:off x="733425" y="59531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F7FAF8"/>
                </a:solidFill>
                <a:latin typeface="Arial"/>
                <a:ea typeface="Arial"/>
                <a:cs typeface="Arial"/>
              </a:defRPr>
            </a:pPr>
            <a:r>
              <a:rPr sz="2025" b="1">
                <a:solidFill>
                  <a:srgbClr val="F7FAF8"/>
                </a:solidFill>
                <a:latin typeface="Arial"/>
                <a:ea typeface="Arial"/>
                <a:cs typeface="Arial"/>
              </a:rPr>
              <a:t>3.300 redações representam apenas 75 cenários autorais.</a:t>
            </a:r>
          </a:p>
        </p:txBody>
      </p:sp>
    </p:spTree>
    <p:extLst>
      <p:ext uri="{BB962C8B-B14F-4D97-AF65-F5344CB8AC3E}">
        <p14:creationId xmlns:p14="http://schemas.microsoft.com/office/powerpoint/2010/main" val="631610731"/>
      </p:ext>
    </p:extLst>
  </p:cSld>
</p:sld>
</file>

<file path=ppt/slides/slide4.xml><?xml version="1.0" encoding="utf-8"?>
<p:sld xmlns:p="http://schemas.openxmlformats.org/presentationml/2006/main">
  <p:cSld>
    <p:bg>
      <p:bgPr>
        <a:solidFill xmlns:a="http://schemas.openxmlformats.org/drawingml/2006/main">
          <a:srgbClr val="F2F6F4"/>
        </a:solidFill>
      </p:bgPr>
    </p:bg>
    <p:spTree>
      <p:nvGrpSpPr>
        <p:cNvPr id="1" name=""/>
        <p:cNvGrpSpPr/>
        <p:nvPr/>
      </p:nvGrpSpPr>
      <p:grpSpPr>
        <a:xfrm xmlns:a="http://schemas.openxmlformats.org/drawingml/2006/main"/>
      </p:grpSpPr>
      <p:sp>
        <p:nvSpPr>
          <p:cNvPr id="7" name="STAR stage">
            <a:extLst xmlns:a="http://schemas.openxmlformats.org/drawingml/2006/main">
              <a:ext uri="{FF2B5EF4-FFF2-40B4-BE49-F238E27FC236}">
                <a16:creationId xmlns:a16="http://schemas.microsoft.com/office/drawing/2014/main" id="{E53EF991-11B7-4732-9E24-C6D216935268}"/>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0B716D"/>
                </a:solidFill>
                <a:latin typeface="Arial"/>
                <a:ea typeface="Arial"/>
                <a:cs typeface="Arial"/>
              </a:defRPr>
            </a:pPr>
            <a:r>
              <a:rPr sz="1725" b="1">
                <a:solidFill>
                  <a:srgbClr val="0B716D"/>
                </a:solidFill>
                <a:latin typeface="Arial"/>
                <a:ea typeface="Arial"/>
                <a:cs typeface="Arial"/>
              </a:rPr>
              <a:t>A  AÇÃO</a:t>
            </a:r>
          </a:p>
        </p:txBody>
      </p:sp>
      <p:sp>
        <p:nvSpPr>
          <p:cNvPr id="2" name="Speaking time">
            <a:extLst xmlns:a="http://schemas.openxmlformats.org/drawingml/2006/main">
              <a:ext uri="{FF2B5EF4-FFF2-40B4-BE49-F238E27FC236}">
                <a16:creationId xmlns:a16="http://schemas.microsoft.com/office/drawing/2014/main" id="{3E3AC4B5-17F9-457E-BD0F-3A3BF98F19EA}"/>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526B72"/>
                </a:solidFill>
                <a:latin typeface="Arial"/>
                <a:ea typeface="Arial"/>
                <a:cs typeface="Arial"/>
              </a:defRPr>
            </a:pPr>
            <a:r>
              <a:rPr sz="1350" b="0">
                <a:solidFill>
                  <a:srgbClr val="526B72"/>
                </a:solidFill>
                <a:latin typeface="Arial"/>
                <a:ea typeface="Arial"/>
                <a:cs typeface="Arial"/>
              </a:rPr>
              <a:t>1:50 a 2:35</a:t>
            </a:r>
          </a:p>
        </p:txBody>
      </p:sp>
      <p:sp>
        <p:nvSpPr>
          <p:cNvPr id="3" name="Slide title">
            <a:extLst xmlns:a="http://schemas.openxmlformats.org/drawingml/2006/main">
              <a:ext uri="{FF2B5EF4-FFF2-40B4-BE49-F238E27FC236}">
                <a16:creationId xmlns:a16="http://schemas.microsoft.com/office/drawing/2014/main" id="{38A48354-5769-47F0-AFD1-463B1EFCC940}"/>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02E39"/>
                </a:solidFill>
                <a:latin typeface="Arial"/>
                <a:ea typeface="Arial"/>
                <a:cs typeface="Arial"/>
              </a:defRPr>
            </a:pPr>
            <a:r>
              <a:rPr sz="3300" b="1">
                <a:solidFill>
                  <a:srgbClr val="102E39"/>
                </a:solidFill>
                <a:latin typeface="Arial"/>
                <a:ea typeface="Arial"/>
                <a:cs typeface="Arial"/>
              </a:rPr>
              <a:t>API em execução</a:t>
            </a:r>
          </a:p>
        </p:txBody>
      </p:sp>
      <p:sp>
        <p:nvSpPr>
          <p:cNvPr id="4" name="API description">
            <a:extLst xmlns:a="http://schemas.openxmlformats.org/drawingml/2006/main">
              <a:ext uri="{FF2B5EF4-FFF2-40B4-BE49-F238E27FC236}">
                <a16:creationId xmlns:a16="http://schemas.microsoft.com/office/drawing/2014/main" id="{654AF424-3D8F-4A15-8D4D-2125918DBAA6}"/>
              </a:ext>
            </a:extLst>
          </p:cNvPr>
          <p:cNvSpPr>
            <a:spLocks xmlns:a="http://schemas.openxmlformats.org/drawingml/2006/main" noGrp="1"/>
          </p:cNvSpPr>
          <p:nvPr/>
        </p:nvSpPr>
        <p:spPr>
          <a:xfrm xmlns:a="http://schemas.openxmlformats.org/drawingml/2006/main">
            <a:off x="685800" y="1676400"/>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02E39"/>
                </a:solidFill>
                <a:latin typeface="Arial"/>
                <a:ea typeface="Arial"/>
                <a:cs typeface="Arial"/>
              </a:defRPr>
            </a:pPr>
            <a:r>
              <a:rPr sz="2100" b="0">
                <a:solidFill>
                  <a:srgbClr val="102E39"/>
                </a:solidFill>
                <a:latin typeface="Arial"/>
                <a:ea typeface="Arial"/>
                <a:cs typeface="Arial"/>
              </a:rPr>
              <a:t>POST /predict retorna urgência, confiança e origem sintética.</a:t>
            </a:r>
          </a:p>
        </p:txBody>
      </p:sp>
      <p:pic>
        <p:nvPicPr>
          <p:cNvPr id="13" name="Imagem 10"/>
          <p:cNvPicPr>
            <a:picLocks xmlns:a="http://schemas.openxmlformats.org/drawingml/2006/main" noChangeAspect="1"/>
          </p:cNvPicPr>
          <p:nvPr/>
        </p:nvPicPr>
        <p:blipFill>
          <a:blip xmlns:r="http://schemas.openxmlformats.org/officeDocument/2006/relationships" xmlns:a="http://schemas.openxmlformats.org/drawingml/2006/main" r:embed="R77f3bc8c792b4dbc"/>
          <a:srcRect xmlns:a="http://schemas.openxmlformats.org/drawingml/2006/main" l="0" t="23412" r="0" b="23412"/>
          <a:stretch xmlns:a="http://schemas.openxmlformats.org/drawingml/2006/main">
            <a:fillRect l="0" t="0" r="0" b="0"/>
          </a:stretch>
        </p:blipFill>
        <p:spPr>
          <a:xfrm xmlns:a="http://schemas.openxmlformats.org/drawingml/2006/main">
            <a:off x="685800" y="2476500"/>
            <a:ext cx="10820400" cy="3238500"/>
          </a:xfrm>
          <a:prstGeom xmlns:a="http://schemas.openxmlformats.org/drawingml/2006/main" prst="rect">
            <a:avLst/>
          </a:prstGeom>
        </p:spPr>
      </p:pic>
      <p:sp>
        <p:nvSpPr>
          <p:cNvPr id="6" name="Approval rule">
            <a:extLst xmlns:a="http://schemas.openxmlformats.org/drawingml/2006/main">
              <a:ext uri="{FF2B5EF4-FFF2-40B4-BE49-F238E27FC236}">
                <a16:creationId xmlns:a16="http://schemas.microsoft.com/office/drawing/2014/main" id="{E433F3A0-826C-4A8B-AA1C-7248DFAA1C62}"/>
              </a:ext>
            </a:extLst>
          </p:cNvPr>
          <p:cNvSpPr>
            <a:spLocks xmlns:a="http://schemas.openxmlformats.org/drawingml/2006/main" noGrp="1"/>
          </p:cNvSpPr>
          <p:nvPr/>
        </p:nvSpPr>
        <p:spPr>
          <a:xfrm xmlns:a="http://schemas.openxmlformats.org/drawingml/2006/main">
            <a:off x="685800" y="6096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1">
                <a:solidFill>
                  <a:srgbClr val="0B716D"/>
                </a:solidFill>
                <a:latin typeface="Arial"/>
                <a:ea typeface="Arial"/>
                <a:cs typeface="Arial"/>
              </a:defRPr>
            </a:pPr>
            <a:r>
              <a:rPr sz="2025" b="1">
                <a:solidFill>
                  <a:srgbClr val="0B716D"/>
                </a:solidFill>
                <a:latin typeface="Arial"/>
                <a:ea typeface="Arial"/>
                <a:cs typeface="Arial"/>
              </a:rPr>
              <a:t>A confiança do modelo não representa risco clínico.</a:t>
            </a:r>
          </a:p>
        </p:txBody>
      </p:sp>
    </p:spTree>
    <p:extLst>
      <p:ext uri="{BB962C8B-B14F-4D97-AF65-F5344CB8AC3E}">
        <p14:creationId xmlns:p14="http://schemas.microsoft.com/office/powerpoint/2010/main" val="1532645415"/>
      </p:ext>
    </p:extLst>
  </p:cSld>
</p:sld>
</file>

<file path=ppt/slides/slide5.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6" name="STAR stage">
            <a:extLst xmlns:a="http://schemas.openxmlformats.org/drawingml/2006/main">
              <a:ext uri="{FF2B5EF4-FFF2-40B4-BE49-F238E27FC236}">
                <a16:creationId xmlns:a16="http://schemas.microsoft.com/office/drawing/2014/main" id="{44AF9FB0-3DB6-4A66-A568-F4C9A5067EBC}"/>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E3CD"/>
                </a:solidFill>
                <a:latin typeface="Arial"/>
                <a:ea typeface="Arial"/>
                <a:cs typeface="Arial"/>
              </a:defRPr>
            </a:pPr>
            <a:r>
              <a:rPr sz="1725" b="1">
                <a:solidFill>
                  <a:srgbClr val="83E3CD"/>
                </a:solidFill>
                <a:latin typeface="Arial"/>
                <a:ea typeface="Arial"/>
                <a:cs typeface="Arial"/>
              </a:rPr>
              <a:t>A  AÇÃO</a:t>
            </a:r>
          </a:p>
        </p:txBody>
      </p:sp>
      <p:sp>
        <p:nvSpPr>
          <p:cNvPr id="2" name="Speaking time">
            <a:extLst xmlns:a="http://schemas.openxmlformats.org/drawingml/2006/main">
              <a:ext uri="{FF2B5EF4-FFF2-40B4-BE49-F238E27FC236}">
                <a16:creationId xmlns:a16="http://schemas.microsoft.com/office/drawing/2014/main" id="{146FC4E2-484D-4BF5-9EF5-7B00DDB1EBC8}"/>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2:35 a 3:20</a:t>
            </a:r>
          </a:p>
        </p:txBody>
      </p:sp>
      <p:sp>
        <p:nvSpPr>
          <p:cNvPr id="3" name="Slide title">
            <a:extLst xmlns:a="http://schemas.openxmlformats.org/drawingml/2006/main">
              <a:ext uri="{FF2B5EF4-FFF2-40B4-BE49-F238E27FC236}">
                <a16:creationId xmlns:a16="http://schemas.microsoft.com/office/drawing/2014/main" id="{B633E821-DB14-4A96-9555-788D2E3FF801}"/>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7FAF8"/>
                </a:solidFill>
                <a:latin typeface="Arial"/>
                <a:ea typeface="Arial"/>
                <a:cs typeface="Arial"/>
              </a:defRPr>
            </a:pPr>
            <a:r>
              <a:rPr sz="3300" b="1">
                <a:solidFill>
                  <a:srgbClr val="F7FAF8"/>
                </a:solidFill>
                <a:latin typeface="Arial"/>
                <a:ea typeface="Arial"/>
                <a:cs typeface="Arial"/>
              </a:rPr>
              <a:t>Retreino com publicação condicionada</a:t>
            </a:r>
          </a:p>
        </p:txBody>
      </p:sp>
      <p:pic>
        <p:nvPicPr>
          <p:cNvPr id="11" name="Imagem 8"/>
          <p:cNvPicPr>
            <a:picLocks xmlns:a="http://schemas.openxmlformats.org/drawingml/2006/main" noChangeAspect="1"/>
          </p:cNvPicPr>
          <p:nvPr/>
        </p:nvPicPr>
        <p:blipFill>
          <a:blip xmlns:r="http://schemas.openxmlformats.org/officeDocument/2006/relationships" xmlns:a="http://schemas.openxmlformats.org/drawingml/2006/main" r:embed="R88f46f3a945d46f8"/>
          <a:srcRect xmlns:a="http://schemas.openxmlformats.org/drawingml/2006/main" l="0" t="11517" r="0" b="11517"/>
          <a:stretch xmlns:a="http://schemas.openxmlformats.org/drawingml/2006/main">
            <a:fillRect l="0" t="0" r="0" b="0"/>
          </a:stretch>
        </p:blipFill>
        <p:spPr>
          <a:xfrm xmlns:a="http://schemas.openxmlformats.org/drawingml/2006/main">
            <a:off x="1000125" y="1754859"/>
            <a:ext cx="10191750" cy="4415082"/>
          </a:xfrm>
          <a:prstGeom xmlns:a="http://schemas.openxmlformats.org/drawingml/2006/main" prst="rect">
            <a:avLst/>
          </a:prstGeom>
        </p:spPr>
      </p:pic>
      <p:sp>
        <p:nvSpPr>
          <p:cNvPr id="5" name="Release safety">
            <a:extLst xmlns:a="http://schemas.openxmlformats.org/drawingml/2006/main">
              <a:ext uri="{FF2B5EF4-FFF2-40B4-BE49-F238E27FC236}">
                <a16:creationId xmlns:a16="http://schemas.microsoft.com/office/drawing/2014/main" id="{CD22677B-75D8-44CF-89FB-C847F7E814CE}"/>
              </a:ext>
            </a:extLst>
          </p:cNvPr>
          <p:cNvSpPr>
            <a:spLocks xmlns:a="http://schemas.openxmlformats.org/drawingml/2006/main" noGrp="1"/>
          </p:cNvSpPr>
          <p:nvPr/>
        </p:nvSpPr>
        <p:spPr>
          <a:xfrm xmlns:a="http://schemas.openxmlformats.org/drawingml/2006/main">
            <a:off x="685800" y="64293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83E3CD"/>
                </a:solidFill>
                <a:latin typeface="Arial"/>
                <a:ea typeface="Arial"/>
                <a:cs typeface="Arial"/>
              </a:defRPr>
            </a:pPr>
            <a:r>
              <a:rPr sz="1950" b="1">
                <a:solidFill>
                  <a:srgbClr val="83E3CD"/>
                </a:solidFill>
                <a:latin typeface="Arial"/>
                <a:ea typeface="Arial"/>
                <a:cs typeface="Arial"/>
              </a:rPr>
              <a:t>Uma falha preserva a release anterior publicada.</a:t>
            </a:r>
          </a:p>
        </p:txBody>
      </p:sp>
    </p:spTree>
    <p:extLst>
      <p:ext uri="{BB962C8B-B14F-4D97-AF65-F5344CB8AC3E}">
        <p14:creationId xmlns:p14="http://schemas.microsoft.com/office/powerpoint/2010/main" val="21144063"/>
      </p:ext>
    </p:extLst>
  </p:cSld>
</p:sld>
</file>

<file path=ppt/slides/slide6.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5" name="STAR stage">
            <a:extLst xmlns:a="http://schemas.openxmlformats.org/drawingml/2006/main">
              <a:ext uri="{FF2B5EF4-FFF2-40B4-BE49-F238E27FC236}">
                <a16:creationId xmlns:a16="http://schemas.microsoft.com/office/drawing/2014/main" id="{8959CC17-86FC-474B-A0A5-F5142F6FE3DC}"/>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E3CD"/>
                </a:solidFill>
                <a:latin typeface="Arial"/>
                <a:ea typeface="Arial"/>
                <a:cs typeface="Arial"/>
              </a:defRPr>
            </a:pPr>
            <a:r>
              <a:rPr sz="1725" b="1">
                <a:solidFill>
                  <a:srgbClr val="83E3CD"/>
                </a:solidFill>
                <a:latin typeface="Arial"/>
                <a:ea typeface="Arial"/>
                <a:cs typeface="Arial"/>
              </a:rPr>
              <a:t>R  RESULTADO</a:t>
            </a:r>
          </a:p>
        </p:txBody>
      </p:sp>
      <p:sp>
        <p:nvSpPr>
          <p:cNvPr id="2" name="Speaking time">
            <a:extLst xmlns:a="http://schemas.openxmlformats.org/drawingml/2006/main">
              <a:ext uri="{FF2B5EF4-FFF2-40B4-BE49-F238E27FC236}">
                <a16:creationId xmlns:a16="http://schemas.microsoft.com/office/drawing/2014/main" id="{808F6690-4D4B-4A1A-B866-2A30A1870294}"/>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3:20 a 4:05</a:t>
            </a:r>
          </a:p>
        </p:txBody>
      </p:sp>
      <p:sp>
        <p:nvSpPr>
          <p:cNvPr id="3" name="Slide title">
            <a:extLst xmlns:a="http://schemas.openxmlformats.org/drawingml/2006/main">
              <a:ext uri="{FF2B5EF4-FFF2-40B4-BE49-F238E27FC236}">
                <a16:creationId xmlns:a16="http://schemas.microsoft.com/office/drawing/2014/main" id="{FF613EAC-448D-4204-A10F-E664F6D1CB00}"/>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7FAF8"/>
                </a:solidFill>
                <a:latin typeface="Arial"/>
                <a:ea typeface="Arial"/>
                <a:cs typeface="Arial"/>
              </a:defRPr>
            </a:pPr>
            <a:r>
              <a:rPr sz="3300" b="1">
                <a:solidFill>
                  <a:srgbClr val="F7FAF8"/>
                </a:solidFill>
                <a:latin typeface="Arial"/>
                <a:ea typeface="Arial"/>
                <a:cs typeface="Arial"/>
              </a:rPr>
              <a:t>Monitoramento com tráfego de teste</a:t>
            </a:r>
          </a:p>
        </p:txBody>
      </p:sp>
      <p:pic>
        <p:nvPicPr>
          <p:cNvPr id="10" name="Imagem 7"/>
          <p:cNvPicPr>
            <a:picLocks xmlns:a="http://schemas.openxmlformats.org/drawingml/2006/main" noChangeAspect="1"/>
          </p:cNvPicPr>
          <p:nvPr/>
        </p:nvPicPr>
        <p:blipFill>
          <a:blip xmlns:r="http://schemas.openxmlformats.org/officeDocument/2006/relationships" xmlns:a="http://schemas.openxmlformats.org/drawingml/2006/main" r:embed="R7ec5a7e8ec4d467f"/>
          <a:srcRect xmlns:a="http://schemas.openxmlformats.org/drawingml/2006/main" l="0" t="6816" r="0" b="6816"/>
          <a:stretch xmlns:a="http://schemas.openxmlformats.org/drawingml/2006/main">
            <a:fillRect l="0" t="0" r="0" b="0"/>
          </a:stretch>
        </p:blipFill>
        <p:spPr>
          <a:xfrm xmlns:a="http://schemas.openxmlformats.org/drawingml/2006/main">
            <a:off x="890588" y="1619250"/>
            <a:ext cx="10410825" cy="5057775"/>
          </a:xfrm>
          <a:prstGeom xmlns:a="http://schemas.openxmlformats.org/drawingml/2006/main" prst="rect">
            <a:avLst/>
          </a:prstGeom>
        </p:spPr>
      </p:pic>
    </p:spTree>
    <p:extLst>
      <p:ext uri="{BB962C8B-B14F-4D97-AF65-F5344CB8AC3E}">
        <p14:creationId xmlns:p14="http://schemas.microsoft.com/office/powerpoint/2010/main" val="874571740"/>
      </p:ext>
    </p:extLst>
  </p:cSld>
</p:sld>
</file>

<file path=ppt/slides/slide7.xml><?xml version="1.0" encoding="utf-8"?>
<p:sld xmlns:p="http://schemas.openxmlformats.org/presentationml/2006/main">
  <p:cSld>
    <p:bg>
      <p:bgPr>
        <a:solidFill xmlns:a="http://schemas.openxmlformats.org/drawingml/2006/main">
          <a:srgbClr val="071923"/>
        </a:solidFill>
      </p:bgPr>
    </p:bg>
    <p:spTree>
      <p:nvGrpSpPr>
        <p:cNvPr id="1" name=""/>
        <p:cNvGrpSpPr/>
        <p:nvPr/>
      </p:nvGrpSpPr>
      <p:grpSpPr>
        <a:xfrm xmlns:a="http://schemas.openxmlformats.org/drawingml/2006/main"/>
      </p:grpSpPr>
      <p:sp>
        <p:nvSpPr>
          <p:cNvPr id="12" name="STAR stage">
            <a:extLst xmlns:a="http://schemas.openxmlformats.org/drawingml/2006/main">
              <a:ext uri="{FF2B5EF4-FFF2-40B4-BE49-F238E27FC236}">
                <a16:creationId xmlns:a16="http://schemas.microsoft.com/office/drawing/2014/main" id="{7CBFA1DE-0A98-4808-A297-B46AB94A4B79}"/>
              </a:ext>
            </a:extLst>
          </p:cNvPr>
          <p:cNvSpPr>
            <a:spLocks xmlns:a="http://schemas.openxmlformats.org/drawingml/2006/main" noGrp="1"/>
          </p:cNvSpPr>
          <p:nvPr/>
        </p:nvSpPr>
        <p:spPr>
          <a:xfrm xmlns:a="http://schemas.openxmlformats.org/drawingml/2006/main">
            <a:off x="685800" y="381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1">
                <a:solidFill>
                  <a:srgbClr val="83E3CD"/>
                </a:solidFill>
                <a:latin typeface="Arial"/>
                <a:ea typeface="Arial"/>
                <a:cs typeface="Arial"/>
              </a:defRPr>
            </a:pPr>
            <a:r>
              <a:rPr sz="1725" b="1">
                <a:solidFill>
                  <a:srgbClr val="83E3CD"/>
                </a:solidFill>
                <a:latin typeface="Arial"/>
                <a:ea typeface="Arial"/>
                <a:cs typeface="Arial"/>
              </a:rPr>
              <a:t>R  RESULTADO</a:t>
            </a:r>
          </a:p>
        </p:txBody>
      </p:sp>
      <p:sp>
        <p:nvSpPr>
          <p:cNvPr id="2" name="Speaking time">
            <a:extLst xmlns:a="http://schemas.openxmlformats.org/drawingml/2006/main">
              <a:ext uri="{FF2B5EF4-FFF2-40B4-BE49-F238E27FC236}">
                <a16:creationId xmlns:a16="http://schemas.microsoft.com/office/drawing/2014/main" id="{BDAA4E14-69FD-4036-A02E-7914EC52384F}"/>
              </a:ext>
            </a:extLst>
          </p:cNvPr>
          <p:cNvSpPr>
            <a:spLocks xmlns:a="http://schemas.openxmlformats.org/drawingml/2006/main" noGrp="1"/>
          </p:cNvSpPr>
          <p:nvPr/>
        </p:nvSpPr>
        <p:spPr>
          <a:xfrm xmlns:a="http://schemas.openxmlformats.org/drawingml/2006/main">
            <a:off x="9810750" y="409575"/>
            <a:ext cx="16954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4:05 a 4:45</a:t>
            </a:r>
          </a:p>
        </p:txBody>
      </p:sp>
      <p:sp>
        <p:nvSpPr>
          <p:cNvPr id="3" name="Slide title">
            <a:extLst xmlns:a="http://schemas.openxmlformats.org/drawingml/2006/main">
              <a:ext uri="{FF2B5EF4-FFF2-40B4-BE49-F238E27FC236}">
                <a16:creationId xmlns:a16="http://schemas.microsoft.com/office/drawing/2014/main" id="{357F689A-73CF-4263-9D31-278BE744F5A3}"/>
              </a:ext>
            </a:extLst>
          </p:cNvPr>
          <p:cNvSpPr>
            <a:spLocks xmlns:a="http://schemas.openxmlformats.org/drawingml/2006/main" noGrp="1"/>
          </p:cNvSpPr>
          <p:nvPr/>
        </p:nvSpPr>
        <p:spPr>
          <a:xfrm xmlns:a="http://schemas.openxmlformats.org/drawingml/2006/main">
            <a:off x="685800" y="866775"/>
            <a:ext cx="1085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F7FAF8"/>
                </a:solidFill>
                <a:latin typeface="Arial"/>
                <a:ea typeface="Arial"/>
                <a:cs typeface="Arial"/>
              </a:defRPr>
            </a:pPr>
            <a:r>
              <a:rPr sz="3300" b="1">
                <a:solidFill>
                  <a:srgbClr val="F7FAF8"/>
                </a:solidFill>
                <a:latin typeface="Arial"/>
                <a:ea typeface="Arial"/>
                <a:cs typeface="Arial"/>
              </a:rPr>
              <a:t>Latência menor, paridade preservada</a:t>
            </a:r>
          </a:p>
        </p:txBody>
      </p:sp>
      <p:sp>
        <p:nvSpPr>
          <p:cNvPr id="4" name="Latency reduction">
            <a:extLst xmlns:a="http://schemas.openxmlformats.org/drawingml/2006/main">
              <a:ext uri="{FF2B5EF4-FFF2-40B4-BE49-F238E27FC236}">
                <a16:creationId xmlns:a16="http://schemas.microsoft.com/office/drawing/2014/main" id="{24D829FE-E9A0-43F5-A669-ADA53AE53C6D}"/>
              </a:ext>
            </a:extLst>
          </p:cNvPr>
          <p:cNvSpPr>
            <a:spLocks xmlns:a="http://schemas.openxmlformats.org/drawingml/2006/main" noGrp="1"/>
          </p:cNvSpPr>
          <p:nvPr/>
        </p:nvSpPr>
        <p:spPr>
          <a:xfrm xmlns:a="http://schemas.openxmlformats.org/drawingml/2006/main">
            <a:off x="685800" y="1952625"/>
            <a:ext cx="54292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8400" b="1">
                <a:solidFill>
                  <a:srgbClr val="83E3CD"/>
                </a:solidFill>
                <a:latin typeface="Arial"/>
                <a:ea typeface="Arial"/>
                <a:cs typeface="Arial"/>
              </a:defRPr>
            </a:pPr>
            <a:r>
              <a:rPr sz="8400" b="1">
                <a:solidFill>
                  <a:srgbClr val="83E3CD"/>
                </a:solidFill>
                <a:latin typeface="Arial"/>
                <a:ea typeface="Arial"/>
                <a:cs typeface="Arial"/>
              </a:rPr>
              <a:t>95,2%</a:t>
            </a:r>
          </a:p>
        </p:txBody>
      </p:sp>
      <p:sp>
        <p:nvSpPr>
          <p:cNvPr id="5" name="Latency meaning">
            <a:extLst xmlns:a="http://schemas.openxmlformats.org/drawingml/2006/main">
              <a:ext uri="{FF2B5EF4-FFF2-40B4-BE49-F238E27FC236}">
                <a16:creationId xmlns:a16="http://schemas.microsoft.com/office/drawing/2014/main" id="{FE54564B-0C67-4AFE-B483-E0291C68CC32}"/>
              </a:ext>
            </a:extLst>
          </p:cNvPr>
          <p:cNvSpPr>
            <a:spLocks xmlns:a="http://schemas.openxmlformats.org/drawingml/2006/main" noGrp="1"/>
          </p:cNvSpPr>
          <p:nvPr/>
        </p:nvSpPr>
        <p:spPr>
          <a:xfrm xmlns:a="http://schemas.openxmlformats.org/drawingml/2006/main">
            <a:off x="742950" y="3352800"/>
            <a:ext cx="5334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F7FAF8"/>
                </a:solidFill>
                <a:latin typeface="Arial"/>
                <a:ea typeface="Arial"/>
                <a:cs typeface="Arial"/>
              </a:defRPr>
            </a:pPr>
            <a:r>
              <a:rPr sz="2475" b="0">
                <a:solidFill>
                  <a:srgbClr val="F7FAF8"/>
                </a:solidFill>
                <a:latin typeface="Arial"/>
                <a:ea typeface="Arial"/>
                <a:cs typeface="Arial"/>
              </a:rPr>
              <a:t>redução do p50</a:t>
            </a:r>
          </a:p>
          <a:p xmlns:a="http://schemas.openxmlformats.org/drawingml/2006/main">
            <a:pPr algn="l">
              <a:buNone/>
              <a:defRPr sz="2475" b="0">
                <a:solidFill>
                  <a:srgbClr val="F7FAF8"/>
                </a:solidFill>
                <a:latin typeface="Arial"/>
                <a:ea typeface="Arial"/>
                <a:cs typeface="Arial"/>
              </a:defRPr>
            </a:pPr>
            <a:r>
              <a:rPr sz="2475" b="0">
                <a:solidFill>
                  <a:srgbClr val="F7FAF8"/>
                </a:solidFill>
                <a:latin typeface="Arial"/>
                <a:ea typeface="Arial"/>
                <a:cs typeface="Arial"/>
              </a:rPr>
              <a:t>na inferência local</a:t>
            </a:r>
          </a:p>
        </p:txBody>
      </p:sp>
      <p:sp>
        <p:nvSpPr>
          <p:cNvPr id="6" name="Original timing">
            <a:extLst xmlns:a="http://schemas.openxmlformats.org/drawingml/2006/main">
              <a:ext uri="{FF2B5EF4-FFF2-40B4-BE49-F238E27FC236}">
                <a16:creationId xmlns:a16="http://schemas.microsoft.com/office/drawing/2014/main" id="{9C21753E-5C75-4043-8F0D-D55C971EC948}"/>
              </a:ext>
            </a:extLst>
          </p:cNvPr>
          <p:cNvSpPr>
            <a:spLocks xmlns:a="http://schemas.openxmlformats.org/drawingml/2006/main" noGrp="1"/>
          </p:cNvSpPr>
          <p:nvPr/>
        </p:nvSpPr>
        <p:spPr>
          <a:xfrm xmlns:a="http://schemas.openxmlformats.org/drawingml/2006/main">
            <a:off x="762000" y="473392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B9CFD2"/>
                </a:solidFill>
                <a:latin typeface="Arial"/>
                <a:ea typeface="Arial"/>
                <a:cs typeface="Arial"/>
              </a:defRPr>
            </a:pPr>
            <a:r>
              <a:rPr sz="2250" b="0">
                <a:solidFill>
                  <a:srgbClr val="B9CFD2"/>
                </a:solidFill>
                <a:latin typeface="Arial"/>
                <a:ea typeface="Arial"/>
                <a:cs typeface="Arial"/>
              </a:rPr>
              <a:t>Original: 0,7277 ms</a:t>
            </a:r>
          </a:p>
        </p:txBody>
      </p:sp>
      <p:sp>
        <p:nvSpPr>
          <p:cNvPr id="7" name="Optimized timing">
            <a:extLst xmlns:a="http://schemas.openxmlformats.org/drawingml/2006/main">
              <a:ext uri="{FF2B5EF4-FFF2-40B4-BE49-F238E27FC236}">
                <a16:creationId xmlns:a16="http://schemas.microsoft.com/office/drawing/2014/main" id="{4033C1A7-0B5E-4262-8321-25AEB2BCD1AF}"/>
              </a:ext>
            </a:extLst>
          </p:cNvPr>
          <p:cNvSpPr>
            <a:spLocks xmlns:a="http://schemas.openxmlformats.org/drawingml/2006/main" noGrp="1"/>
          </p:cNvSpPr>
          <p:nvPr/>
        </p:nvSpPr>
        <p:spPr>
          <a:xfrm xmlns:a="http://schemas.openxmlformats.org/drawingml/2006/main">
            <a:off x="762000" y="522922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7FAF8"/>
                </a:solidFill>
                <a:latin typeface="Arial"/>
                <a:ea typeface="Arial"/>
                <a:cs typeface="Arial"/>
              </a:defRPr>
            </a:pPr>
            <a:r>
              <a:rPr sz="2250" b="1">
                <a:solidFill>
                  <a:srgbClr val="F7FAF8"/>
                </a:solidFill>
                <a:latin typeface="Arial"/>
                <a:ea typeface="Arial"/>
                <a:cs typeface="Arial"/>
              </a:rPr>
              <a:t>ONNX: 0,0351 ms</a:t>
            </a:r>
          </a:p>
        </p:txBody>
      </p:sp>
      <p:sp>
        <p:nvSpPr>
          <p:cNvPr id="8" name="Parity title">
            <a:extLst xmlns:a="http://schemas.openxmlformats.org/drawingml/2006/main">
              <a:ext uri="{FF2B5EF4-FFF2-40B4-BE49-F238E27FC236}">
                <a16:creationId xmlns:a16="http://schemas.microsoft.com/office/drawing/2014/main" id="{7BE41FC6-ABFC-4D0D-AF93-EF70560E6869}"/>
              </a:ext>
            </a:extLst>
          </p:cNvPr>
          <p:cNvSpPr>
            <a:spLocks xmlns:a="http://schemas.openxmlformats.org/drawingml/2006/main" noGrp="1"/>
          </p:cNvSpPr>
          <p:nvPr/>
        </p:nvSpPr>
        <p:spPr>
          <a:xfrm xmlns:a="http://schemas.openxmlformats.org/drawingml/2006/main">
            <a:off x="6657975" y="2057400"/>
            <a:ext cx="4857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F7FAF8"/>
                </a:solidFill>
                <a:latin typeface="Arial"/>
                <a:ea typeface="Arial"/>
                <a:cs typeface="Arial"/>
              </a:defRPr>
            </a:pPr>
            <a:r>
              <a:rPr sz="2550" b="1">
                <a:solidFill>
                  <a:srgbClr val="F7FAF8"/>
                </a:solidFill>
                <a:latin typeface="Arial"/>
                <a:ea typeface="Arial"/>
                <a:cs typeface="Arial"/>
              </a:rPr>
              <a:t>Paridade confirmada</a:t>
            </a:r>
          </a:p>
        </p:txBody>
      </p:sp>
      <p:sp>
        <p:nvSpPr>
          <p:cNvPr id="9" name="Parity details">
            <a:extLst xmlns:a="http://schemas.openxmlformats.org/drawingml/2006/main">
              <a:ext uri="{FF2B5EF4-FFF2-40B4-BE49-F238E27FC236}">
                <a16:creationId xmlns:a16="http://schemas.microsoft.com/office/drawing/2014/main" id="{201D777B-0C51-4D0D-9439-6223A98F7ED6}"/>
              </a:ext>
            </a:extLst>
          </p:cNvPr>
          <p:cNvSpPr>
            <a:spLocks xmlns:a="http://schemas.openxmlformats.org/drawingml/2006/main" noGrp="1"/>
          </p:cNvSpPr>
          <p:nvPr/>
        </p:nvSpPr>
        <p:spPr>
          <a:xfrm xmlns:a="http://schemas.openxmlformats.org/drawingml/2006/main">
            <a:off x="6657975" y="2867025"/>
            <a:ext cx="48577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83E3CD"/>
                </a:solidFill>
                <a:latin typeface="Arial"/>
                <a:ea typeface="Arial"/>
                <a:cs typeface="Arial"/>
              </a:defRPr>
            </a:pPr>
            <a:r>
              <a:rPr sz="2475" b="1">
                <a:solidFill>
                  <a:srgbClr val="83E3CD"/>
                </a:solidFill>
                <a:latin typeface="Arial"/>
                <a:ea typeface="Arial"/>
                <a:cs typeface="Arial"/>
              </a:rPr>
              <a:t>0 divergências de rótulo</a:t>
            </a:r>
          </a:p>
          <a:p xmlns:a="http://schemas.openxmlformats.org/drawingml/2006/main">
            <a:pPr algn="l">
              <a:buNone/>
              <a:defRPr sz="2475" b="1">
                <a:solidFill>
                  <a:srgbClr val="83E3CD"/>
                </a:solidFill>
                <a:latin typeface="Arial"/>
                <a:ea typeface="Arial"/>
                <a:cs typeface="Arial"/>
              </a:defRPr>
            </a:pPr>
            <a:r>
              <a:rPr sz="2475" b="1">
                <a:solidFill>
                  <a:srgbClr val="83E3CD"/>
                </a:solidFill>
                <a:latin typeface="Arial"/>
                <a:ea typeface="Arial"/>
                <a:cs typeface="Arial"/>
              </a:rPr>
              <a:t>em 606 entradas</a:t>
            </a:r>
          </a:p>
        </p:txBody>
      </p:sp>
      <p:sp>
        <p:nvSpPr>
          <p:cNvPr id="10" name="Quality evidence">
            <a:extLst xmlns:a="http://schemas.openxmlformats.org/drawingml/2006/main">
              <a:ext uri="{FF2B5EF4-FFF2-40B4-BE49-F238E27FC236}">
                <a16:creationId xmlns:a16="http://schemas.microsoft.com/office/drawing/2014/main" id="{CD060E1C-B03F-4F60-842D-E052640EB093}"/>
              </a:ext>
            </a:extLst>
          </p:cNvPr>
          <p:cNvSpPr>
            <a:spLocks xmlns:a="http://schemas.openxmlformats.org/drawingml/2006/main" noGrp="1"/>
          </p:cNvSpPr>
          <p:nvPr/>
        </p:nvSpPr>
        <p:spPr>
          <a:xfrm xmlns:a="http://schemas.openxmlformats.org/drawingml/2006/main">
            <a:off x="6657975" y="4438650"/>
            <a:ext cx="485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F7FAF8"/>
                </a:solidFill>
                <a:latin typeface="Arial"/>
                <a:ea typeface="Arial"/>
                <a:cs typeface="Arial"/>
              </a:defRPr>
            </a:pPr>
            <a:r>
              <a:rPr sz="2250" b="0">
                <a:solidFill>
                  <a:srgbClr val="F7FAF8"/>
                </a:solidFill>
                <a:latin typeface="Arial"/>
                <a:ea typeface="Arial"/>
                <a:cs typeface="Arial"/>
              </a:rPr>
              <a:t>51 testes aprovados</a:t>
            </a:r>
          </a:p>
          <a:p xmlns:a="http://schemas.openxmlformats.org/drawingml/2006/main">
            <a:pPr algn="l">
              <a:buNone/>
              <a:defRPr sz="2250" b="0">
                <a:solidFill>
                  <a:srgbClr val="F7FAF8"/>
                </a:solidFill>
                <a:latin typeface="Arial"/>
                <a:ea typeface="Arial"/>
                <a:cs typeface="Arial"/>
              </a:defRPr>
            </a:pPr>
            <a:r>
              <a:rPr sz="2250" b="0">
                <a:solidFill>
                  <a:srgbClr val="F7FAF8"/>
                </a:solidFill>
                <a:latin typeface="Arial"/>
                <a:ea typeface="Arial"/>
                <a:cs typeface="Arial"/>
              </a:rPr>
              <a:t>3 jobs da CI aprovados</a:t>
            </a:r>
          </a:p>
        </p:txBody>
      </p:sp>
      <p:sp>
        <p:nvSpPr>
          <p:cNvPr id="11" name="Limitations">
            <a:extLst xmlns:a="http://schemas.openxmlformats.org/drawingml/2006/main">
              <a:ext uri="{FF2B5EF4-FFF2-40B4-BE49-F238E27FC236}">
                <a16:creationId xmlns:a16="http://schemas.microsoft.com/office/drawing/2014/main" id="{8575461C-05DC-41A4-A857-BEF2AB5200EB}"/>
              </a:ext>
            </a:extLst>
          </p:cNvPr>
          <p:cNvSpPr>
            <a:spLocks xmlns:a="http://schemas.openxmlformats.org/drawingml/2006/main" noGrp="1"/>
          </p:cNvSpPr>
          <p:nvPr/>
        </p:nvSpPr>
        <p:spPr>
          <a:xfrm xmlns:a="http://schemas.openxmlformats.org/drawingml/2006/main">
            <a:off x="742950" y="6134100"/>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B9CFD2"/>
                </a:solidFill>
                <a:latin typeface="Arial"/>
                <a:ea typeface="Arial"/>
                <a:cs typeface="Arial"/>
              </a:defRPr>
            </a:pPr>
            <a:r>
              <a:rPr sz="1800" b="0">
                <a:solidFill>
                  <a:srgbClr val="B9CFD2"/>
                </a:solidFill>
                <a:latin typeface="Arial"/>
                <a:ea typeface="Arial"/>
                <a:cs typeface="Arial"/>
              </a:rPr>
              <a:t>p95 HTTP: 27,65 ms original / 25,18 ms ONNX. Sem validade clínica.</a:t>
            </a:r>
          </a:p>
        </p:txBody>
      </p:sp>
    </p:spTree>
    <p:extLst>
      <p:ext uri="{BB962C8B-B14F-4D97-AF65-F5344CB8AC3E}">
        <p14:creationId xmlns:p14="http://schemas.microsoft.com/office/powerpoint/2010/main" val="20057689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8" name="Imagem 8"/>
          <p:cNvPicPr>
            <a:picLocks xmlns:a="http://schemas.openxmlformats.org/drawingml/2006/main" noChangeAspect="1"/>
          </p:cNvPicPr>
          <p:nvPr/>
        </p:nvPicPr>
        <p:blipFill>
          <a:blip xmlns:r="http://schemas.openxmlformats.org/officeDocument/2006/relationships" xmlns:a="http://schemas.openxmlformats.org/drawingml/2006/main" r:embed="R0c742c47ee854202"/>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3" name="Speaking time">
            <a:extLst xmlns:a="http://schemas.openxmlformats.org/drawingml/2006/main">
              <a:ext uri="{FF2B5EF4-FFF2-40B4-BE49-F238E27FC236}">
                <a16:creationId xmlns:a16="http://schemas.microsoft.com/office/drawing/2014/main" id="{8CE02736-32CE-C8E4-BB3B-DD712D366B4C}"/>
              </a:ext>
            </a:extLst>
          </p:cNvPr>
          <p:cNvSpPr>
            <a:spLocks xmlns:a="http://schemas.openxmlformats.org/drawingml/2006/main" noGrp="1"/>
          </p:cNvSpPr>
          <p:nvPr/>
        </p:nvSpPr>
        <p:spPr>
          <a:xfrm xmlns:a="http://schemas.openxmlformats.org/drawingml/2006/main">
            <a:off x="9810750" y="495300"/>
            <a:ext cx="1695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B9CFD2"/>
                </a:solidFill>
                <a:latin typeface="Arial"/>
                <a:ea typeface="Arial"/>
                <a:cs typeface="Arial"/>
              </a:defRPr>
            </a:pPr>
            <a:r>
              <a:rPr sz="1350" b="0">
                <a:solidFill>
                  <a:srgbClr val="B9CFD2"/>
                </a:solidFill>
                <a:latin typeface="Arial"/>
                <a:ea typeface="Arial"/>
                <a:cs typeface="Arial"/>
              </a:rPr>
              <a:t>4:45 a 4:50</a:t>
            </a:r>
          </a:p>
        </p:txBody>
      </p:sp>
      <p:sp>
        <p:nvSpPr>
          <p:cNvPr id="4" name="Cover title">
            <a:extLst xmlns:a="http://schemas.openxmlformats.org/drawingml/2006/main">
              <a:ext uri="{FF2B5EF4-FFF2-40B4-BE49-F238E27FC236}">
                <a16:creationId xmlns:a16="http://schemas.microsoft.com/office/drawing/2014/main" id="{051D467D-2F6B-DCB2-34F9-C7718FB71788}"/>
              </a:ext>
            </a:extLst>
          </p:cNvPr>
          <p:cNvSpPr>
            <a:spLocks xmlns:a="http://schemas.openxmlformats.org/drawingml/2006/main" noGrp="1"/>
          </p:cNvSpPr>
          <p:nvPr/>
        </p:nvSpPr>
        <p:spPr>
          <a:xfrm xmlns:a="http://schemas.openxmlformats.org/drawingml/2006/main">
            <a:off x="685800" y="1552575"/>
            <a:ext cx="82391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700" b="1">
                <a:solidFill>
                  <a:srgbClr val="F7FAF8"/>
                </a:solidFill>
                <a:latin typeface="Arial"/>
                <a:ea typeface="Arial"/>
                <a:cs typeface="Arial"/>
              </a:defRPr>
            </a:pPr>
            <a:r>
              <a:rPr sz="5700" b="1">
                <a:solidFill>
                  <a:srgbClr val="F7FAF8"/>
                </a:solidFill>
                <a:latin typeface="Arial"/>
                <a:ea typeface="Arial"/>
                <a:cs typeface="Arial"/>
              </a:rPr>
              <a:t>Obrigado!</a:t>
            </a:r>
            <a:endParaRPr sz="5700" b="1">
              <a:solidFill>
                <a:srgbClr val="F7FAF8"/>
              </a:solidFill>
              <a:latin typeface="Arial"/>
              <a:ea typeface="Arial"/>
              <a:cs typeface="Arial"/>
            </a:endParaRPr>
          </a:p>
        </p:txBody>
      </p:sp>
      <p:sp>
        <p:nvSpPr>
          <p:cNvPr id="5" name="Project name">
            <a:extLst xmlns:a="http://schemas.openxmlformats.org/drawingml/2006/main">
              <a:ext uri="{FF2B5EF4-FFF2-40B4-BE49-F238E27FC236}">
                <a16:creationId xmlns:a16="http://schemas.microsoft.com/office/drawing/2014/main" id="{9A4DF67B-2DE4-5F4A-AF72-6F8ADBACE5A4}"/>
              </a:ext>
            </a:extLst>
          </p:cNvPr>
          <p:cNvSpPr>
            <a:spLocks xmlns:a="http://schemas.openxmlformats.org/drawingml/2006/main" noGrp="1"/>
          </p:cNvSpPr>
          <p:nvPr/>
        </p:nvSpPr>
        <p:spPr>
          <a:xfrm xmlns:a="http://schemas.openxmlformats.org/drawingml/2006/main">
            <a:off x="723900" y="3619500"/>
            <a:ext cx="809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83E3CD"/>
                </a:solidFill>
                <a:latin typeface="Arial"/>
                <a:ea typeface="Arial"/>
                <a:cs typeface="Arial"/>
              </a:defRPr>
            </a:pPr>
            <a:r>
              <a:rPr sz="2250" b="0">
                <a:solidFill>
                  <a:srgbClr val="83E3CD"/>
                </a:solidFill>
                <a:latin typeface="Arial"/>
                <a:ea typeface="Arial"/>
                <a:cs typeface="Arial"/>
              </a:rPr>
              <a:t>Ygor </a:t>
            </a:r>
            <a:r>
              <a:rPr sz="2250">
                <a:solidFill>
                  <a:srgbClr val="83E3CD"/>
                </a:solidFill>
                <a:latin typeface="Arial"/>
                <a:ea typeface="Arial"/>
                <a:cs typeface="Arial"/>
              </a:rPr>
              <a:t>Trova Martinelli – RM374211</a:t>
            </a:r>
            <a:endParaRPr sz="2250" b="0">
              <a:solidFill>
                <a:srgbClr val="83E3CD"/>
              </a:solidFill>
              <a:latin typeface="Arial"/>
              <a:ea typeface="Arial"/>
              <a:cs typeface="Arial"/>
            </a:endParaRPr>
          </a:p>
        </p:txBody>
      </p:sp>
      <p:sp>
        <p:nvSpPr>
          <p:cNvPr id="6" name="Situation">
            <a:extLst xmlns:a="http://schemas.openxmlformats.org/drawingml/2006/main">
              <a:ext uri="{FF2B5EF4-FFF2-40B4-BE49-F238E27FC236}">
                <a16:creationId xmlns:a16="http://schemas.microsoft.com/office/drawing/2014/main" id="{98F5C9BE-93EA-FA3B-43FC-A7BF7983D141}"/>
              </a:ext>
            </a:extLst>
          </p:cNvPr>
          <p:cNvSpPr>
            <a:spLocks xmlns:a="http://schemas.openxmlformats.org/drawingml/2006/main" noGrp="1"/>
          </p:cNvSpPr>
          <p:nvPr/>
        </p:nvSpPr>
        <p:spPr>
          <a:xfrm xmlns:a="http://schemas.openxmlformats.org/drawingml/2006/main">
            <a:off x="723900" y="4333875"/>
            <a:ext cx="7858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F7FAF8"/>
                </a:solidFill>
                <a:latin typeface="Arial"/>
                <a:ea typeface="Arial"/>
                <a:cs typeface="Arial"/>
              </a:defRPr>
            </a:pPr>
            <a:r>
              <a:rPr sz="2325">
                <a:solidFill>
                  <a:srgbClr val="F7FAF8"/>
                </a:solidFill>
                <a:latin typeface="Arial"/>
                <a:ea typeface="Arial"/>
                <a:cs typeface="Arial"/>
              </a:rPr>
              <a:t>https://github.com/ygormartinelli/tech-challenge-fase-3</a:t>
            </a:r>
            <a:endParaRPr sz="2325" b="0">
              <a:solidFill>
                <a:srgbClr val="F7FAF8"/>
              </a:solidFill>
              <a:latin typeface="Arial"/>
              <a:ea typeface="Arial"/>
              <a:cs typeface="Arial"/>
            </a:endParaRPr>
          </a:p>
        </p:txBody>
      </p:sp>
    </p:spTree>
    <p:extLst>
      <p:ext uri="{BB962C8B-B14F-4D97-AF65-F5344CB8AC3E}">
        <p14:creationId xmlns:p14="http://schemas.microsoft.com/office/powerpoint/2010/main" val="6860713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2026-09-16T01:24:37.1930000Z</dcterms:created>
  <dcterms:modified xsi:type="dcterms:W3CDTF">2026-09-16T01:24:37.1930000Z</dcterms:modified>
</coreProperties>
</file>